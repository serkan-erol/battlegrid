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0" r:id="rId1"/>
  </p:sldMasterIdLst>
  <p:sldIdLst>
    <p:sldId id="256" r:id="rId2"/>
    <p:sldId id="257" r:id="rId3"/>
    <p:sldId id="258" r:id="rId4"/>
    <p:sldId id="282" r:id="rId5"/>
    <p:sldId id="259" r:id="rId6"/>
    <p:sldId id="260" r:id="rId7"/>
    <p:sldId id="261" r:id="rId8"/>
    <p:sldId id="262" r:id="rId9"/>
    <p:sldId id="263" r:id="rId10"/>
    <p:sldId id="264" r:id="rId11"/>
    <p:sldId id="265" r:id="rId12"/>
    <p:sldId id="283" r:id="rId13"/>
    <p:sldId id="284" r:id="rId14"/>
    <p:sldId id="266" r:id="rId15"/>
    <p:sldId id="267" r:id="rId16"/>
    <p:sldId id="285" r:id="rId17"/>
    <p:sldId id="269" r:id="rId18"/>
    <p:sldId id="286" r:id="rId19"/>
    <p:sldId id="270" r:id="rId20"/>
    <p:sldId id="287" r:id="rId21"/>
    <p:sldId id="271" r:id="rId22"/>
    <p:sldId id="272" r:id="rId23"/>
    <p:sldId id="288" r:id="rId24"/>
    <p:sldId id="289" r:id="rId25"/>
    <p:sldId id="290" r:id="rId26"/>
    <p:sldId id="273" r:id="rId27"/>
    <p:sldId id="274" r:id="rId28"/>
    <p:sldId id="275" r:id="rId29"/>
    <p:sldId id="276" r:id="rId30"/>
    <p:sldId id="291" r:id="rId31"/>
    <p:sldId id="277" r:id="rId32"/>
    <p:sldId id="292" r:id="rId33"/>
    <p:sldId id="293" r:id="rId34"/>
    <p:sldId id="278" r:id="rId35"/>
    <p:sldId id="294" r:id="rId36"/>
    <p:sldId id="296" r:id="rId37"/>
    <p:sldId id="279" r:id="rId38"/>
    <p:sldId id="295" r:id="rId39"/>
    <p:sldId id="297" r:id="rId40"/>
    <p:sldId id="280"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763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FDF7DC7-A234-4BB4-BBC4-6D55FBFB292F}" type="datetimeFigureOut">
              <a:rPr lang="tr-TR" smtClean="0"/>
              <a:t>29.05.2026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58F6F8D-2212-4859-9B2E-B16E3525963D}" type="slidenum">
              <a:rPr lang="tr-TR" smtClean="0"/>
              <a:t>‹#›</a:t>
            </a:fld>
            <a:endParaRPr lang="tr-TR"/>
          </a:p>
        </p:txBody>
      </p:sp>
    </p:spTree>
    <p:extLst>
      <p:ext uri="{BB962C8B-B14F-4D97-AF65-F5344CB8AC3E}">
        <p14:creationId xmlns:p14="http://schemas.microsoft.com/office/powerpoint/2010/main" val="2579602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DF7DC7-A234-4BB4-BBC4-6D55FBFB292F}" type="datetimeFigureOut">
              <a:rPr lang="tr-TR" smtClean="0"/>
              <a:t>29.05.2026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58F6F8D-2212-4859-9B2E-B16E3525963D}" type="slidenum">
              <a:rPr lang="tr-TR" smtClean="0"/>
              <a:t>‹#›</a:t>
            </a:fld>
            <a:endParaRPr lang="tr-TR"/>
          </a:p>
        </p:txBody>
      </p:sp>
    </p:spTree>
    <p:extLst>
      <p:ext uri="{BB962C8B-B14F-4D97-AF65-F5344CB8AC3E}">
        <p14:creationId xmlns:p14="http://schemas.microsoft.com/office/powerpoint/2010/main" val="3005482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FDF7DC7-A234-4BB4-BBC4-6D55FBFB292F}" type="datetimeFigureOut">
              <a:rPr lang="tr-TR" smtClean="0"/>
              <a:t>29.05.2026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58F6F8D-2212-4859-9B2E-B16E3525963D}" type="slidenum">
              <a:rPr lang="tr-TR" smtClean="0"/>
              <a:t>‹#›</a:t>
            </a:fld>
            <a:endParaRPr lang="tr-TR"/>
          </a:p>
        </p:txBody>
      </p:sp>
    </p:spTree>
    <p:extLst>
      <p:ext uri="{BB962C8B-B14F-4D97-AF65-F5344CB8AC3E}">
        <p14:creationId xmlns:p14="http://schemas.microsoft.com/office/powerpoint/2010/main" val="33565803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FDF7DC7-A234-4BB4-BBC4-6D55FBFB292F}" type="datetimeFigureOut">
              <a:rPr lang="tr-TR" smtClean="0"/>
              <a:t>29.05.2026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58F6F8D-2212-4859-9B2E-B16E3525963D}" type="slidenum">
              <a:rPr lang="tr-TR" smtClean="0"/>
              <a:t>‹#›</a:t>
            </a:fld>
            <a:endParaRPr lang="tr-TR"/>
          </a:p>
        </p:txBody>
      </p:sp>
    </p:spTree>
    <p:extLst>
      <p:ext uri="{BB962C8B-B14F-4D97-AF65-F5344CB8AC3E}">
        <p14:creationId xmlns:p14="http://schemas.microsoft.com/office/powerpoint/2010/main" val="2616405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FDF7DC7-A234-4BB4-BBC4-6D55FBFB292F}" type="datetimeFigureOut">
              <a:rPr lang="tr-TR" smtClean="0"/>
              <a:t>29.05.2026</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58F6F8D-2212-4859-9B2E-B16E3525963D}" type="slidenum">
              <a:rPr lang="tr-TR" smtClean="0"/>
              <a:t>‹#›</a:t>
            </a:fld>
            <a:endParaRPr lang="tr-TR"/>
          </a:p>
        </p:txBody>
      </p:sp>
    </p:spTree>
    <p:extLst>
      <p:ext uri="{BB962C8B-B14F-4D97-AF65-F5344CB8AC3E}">
        <p14:creationId xmlns:p14="http://schemas.microsoft.com/office/powerpoint/2010/main" val="9019431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FDF7DC7-A234-4BB4-BBC4-6D55FBFB292F}" type="datetimeFigureOut">
              <a:rPr lang="tr-TR" smtClean="0"/>
              <a:t>29.05.2026</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58F6F8D-2212-4859-9B2E-B16E3525963D}" type="slidenum">
              <a:rPr lang="tr-TR" smtClean="0"/>
              <a:t>‹#›</a:t>
            </a:fld>
            <a:endParaRPr lang="tr-TR"/>
          </a:p>
        </p:txBody>
      </p:sp>
    </p:spTree>
    <p:extLst>
      <p:ext uri="{BB962C8B-B14F-4D97-AF65-F5344CB8AC3E}">
        <p14:creationId xmlns:p14="http://schemas.microsoft.com/office/powerpoint/2010/main" val="1564061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DF7DC7-A234-4BB4-BBC4-6D55FBFB292F}" type="datetimeFigureOut">
              <a:rPr lang="tr-TR" smtClean="0"/>
              <a:t>29.05.2026</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58F6F8D-2212-4859-9B2E-B16E3525963D}" type="slidenum">
              <a:rPr lang="tr-TR" smtClean="0"/>
              <a:t>‹#›</a:t>
            </a:fld>
            <a:endParaRPr lang="tr-TR"/>
          </a:p>
        </p:txBody>
      </p:sp>
    </p:spTree>
    <p:extLst>
      <p:ext uri="{BB962C8B-B14F-4D97-AF65-F5344CB8AC3E}">
        <p14:creationId xmlns:p14="http://schemas.microsoft.com/office/powerpoint/2010/main" val="1446714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FDF7DC7-A234-4BB4-BBC4-6D55FBFB292F}" type="datetimeFigureOut">
              <a:rPr lang="tr-TR" smtClean="0"/>
              <a:t>29.05.2026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58F6F8D-2212-4859-9B2E-B16E3525963D}" type="slidenum">
              <a:rPr lang="tr-TR" smtClean="0"/>
              <a:t>‹#›</a:t>
            </a:fld>
            <a:endParaRPr lang="tr-TR"/>
          </a:p>
        </p:txBody>
      </p:sp>
    </p:spTree>
    <p:extLst>
      <p:ext uri="{BB962C8B-B14F-4D97-AF65-F5344CB8AC3E}">
        <p14:creationId xmlns:p14="http://schemas.microsoft.com/office/powerpoint/2010/main" val="943142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FDF7DC7-A234-4BB4-BBC4-6D55FBFB292F}" type="datetimeFigureOut">
              <a:rPr lang="tr-TR" smtClean="0"/>
              <a:t>29.05.2026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58F6F8D-2212-4859-9B2E-B16E3525963D}" type="slidenum">
              <a:rPr lang="tr-TR" smtClean="0"/>
              <a:t>‹#›</a:t>
            </a:fld>
            <a:endParaRPr lang="tr-TR"/>
          </a:p>
        </p:txBody>
      </p:sp>
    </p:spTree>
    <p:extLst>
      <p:ext uri="{BB962C8B-B14F-4D97-AF65-F5344CB8AC3E}">
        <p14:creationId xmlns:p14="http://schemas.microsoft.com/office/powerpoint/2010/main" val="675744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FDF7DC7-A234-4BB4-BBC4-6D55FBFB292F}" type="datetimeFigureOut">
              <a:rPr lang="tr-TR" smtClean="0"/>
              <a:t>29.05.2026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58F6F8D-2212-4859-9B2E-B16E3525963D}" type="slidenum">
              <a:rPr lang="tr-TR" smtClean="0"/>
              <a:t>‹#›</a:t>
            </a:fld>
            <a:endParaRPr lang="tr-TR"/>
          </a:p>
        </p:txBody>
      </p:sp>
    </p:spTree>
    <p:extLst>
      <p:ext uri="{BB962C8B-B14F-4D97-AF65-F5344CB8AC3E}">
        <p14:creationId xmlns:p14="http://schemas.microsoft.com/office/powerpoint/2010/main" val="1800915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FDF7DC7-A234-4BB4-BBC4-6D55FBFB292F}" type="datetimeFigureOut">
              <a:rPr lang="tr-TR" smtClean="0"/>
              <a:t>29.05.2026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58F6F8D-2212-4859-9B2E-B16E3525963D}" type="slidenum">
              <a:rPr lang="tr-TR" smtClean="0"/>
              <a:t>‹#›</a:t>
            </a:fld>
            <a:endParaRPr lang="tr-TR"/>
          </a:p>
        </p:txBody>
      </p:sp>
    </p:spTree>
    <p:extLst>
      <p:ext uri="{BB962C8B-B14F-4D97-AF65-F5344CB8AC3E}">
        <p14:creationId xmlns:p14="http://schemas.microsoft.com/office/powerpoint/2010/main" val="33045297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FDF7DC7-A234-4BB4-BBC4-6D55FBFB292F}" type="datetimeFigureOut">
              <a:rPr lang="tr-TR" smtClean="0"/>
              <a:t>29.05.2026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58F6F8D-2212-4859-9B2E-B16E3525963D}" type="slidenum">
              <a:rPr lang="tr-TR" smtClean="0"/>
              <a:t>‹#›</a:t>
            </a:fld>
            <a:endParaRPr lang="tr-TR"/>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7840365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FDF7DC7-A234-4BB4-BBC4-6D55FBFB292F}" type="datetimeFigureOut">
              <a:rPr lang="tr-TR" smtClean="0"/>
              <a:t>29.05.2026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58F6F8D-2212-4859-9B2E-B16E3525963D}" type="slidenum">
              <a:rPr lang="tr-TR" smtClean="0"/>
              <a:t>‹#›</a:t>
            </a:fld>
            <a:endParaRPr lang="tr-TR"/>
          </a:p>
        </p:txBody>
      </p:sp>
    </p:spTree>
    <p:extLst>
      <p:ext uri="{BB962C8B-B14F-4D97-AF65-F5344CB8AC3E}">
        <p14:creationId xmlns:p14="http://schemas.microsoft.com/office/powerpoint/2010/main" val="2542001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FDF7DC7-A234-4BB4-BBC4-6D55FBFB292F}" type="datetimeFigureOut">
              <a:rPr lang="tr-TR" smtClean="0"/>
              <a:t>29.05.2026</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58F6F8D-2212-4859-9B2E-B16E3525963D}" type="slidenum">
              <a:rPr lang="tr-TR" smtClean="0"/>
              <a:t>‹#›</a:t>
            </a:fld>
            <a:endParaRPr lang="tr-TR"/>
          </a:p>
        </p:txBody>
      </p:sp>
    </p:spTree>
    <p:extLst>
      <p:ext uri="{BB962C8B-B14F-4D97-AF65-F5344CB8AC3E}">
        <p14:creationId xmlns:p14="http://schemas.microsoft.com/office/powerpoint/2010/main" val="26624006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FDF7DC7-A234-4BB4-BBC4-6D55FBFB292F}" type="datetimeFigureOut">
              <a:rPr lang="tr-TR" smtClean="0"/>
              <a:t>29.05.2026</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58F6F8D-2212-4859-9B2E-B16E3525963D}" type="slidenum">
              <a:rPr lang="tr-TR" smtClean="0"/>
              <a:t>‹#›</a:t>
            </a:fld>
            <a:endParaRPr lang="tr-TR"/>
          </a:p>
        </p:txBody>
      </p:sp>
    </p:spTree>
    <p:extLst>
      <p:ext uri="{BB962C8B-B14F-4D97-AF65-F5344CB8AC3E}">
        <p14:creationId xmlns:p14="http://schemas.microsoft.com/office/powerpoint/2010/main" val="38111985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DF7DC7-A234-4BB4-BBC4-6D55FBFB292F}" type="datetimeFigureOut">
              <a:rPr lang="tr-TR" smtClean="0"/>
              <a:t>29.05.2026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58F6F8D-2212-4859-9B2E-B16E3525963D}" type="slidenum">
              <a:rPr lang="tr-TR" smtClean="0"/>
              <a:t>‹#›</a:t>
            </a:fld>
            <a:endParaRPr lang="tr-TR"/>
          </a:p>
        </p:txBody>
      </p:sp>
    </p:spTree>
    <p:extLst>
      <p:ext uri="{BB962C8B-B14F-4D97-AF65-F5344CB8AC3E}">
        <p14:creationId xmlns:p14="http://schemas.microsoft.com/office/powerpoint/2010/main" val="975614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DF7DC7-A234-4BB4-BBC4-6D55FBFB292F}" type="datetimeFigureOut">
              <a:rPr lang="tr-TR" smtClean="0"/>
              <a:t>29.05.2026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58F6F8D-2212-4859-9B2E-B16E3525963D}" type="slidenum">
              <a:rPr lang="tr-TR" smtClean="0"/>
              <a:t>‹#›</a:t>
            </a:fld>
            <a:endParaRPr lang="tr-TR"/>
          </a:p>
        </p:txBody>
      </p:sp>
    </p:spTree>
    <p:extLst>
      <p:ext uri="{BB962C8B-B14F-4D97-AF65-F5344CB8AC3E}">
        <p14:creationId xmlns:p14="http://schemas.microsoft.com/office/powerpoint/2010/main" val="27632781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B88E6-216C-3341-E305-94DC36968B23}"/>
              </a:ext>
            </a:extLst>
          </p:cNvPr>
          <p:cNvSpPr>
            <a:spLocks noGrp="1"/>
          </p:cNvSpPr>
          <p:nvPr>
            <p:ph type="title"/>
          </p:nvPr>
        </p:nvSpPr>
        <p:spPr/>
        <p:txBody>
          <a:bodyPr/>
          <a:lstStyle/>
          <a:p>
            <a:r>
              <a:rPr lang="en-US"/>
              <a:t>Click to edit Master title style</a:t>
            </a:r>
            <a:endParaRPr lang="tr-TR"/>
          </a:p>
        </p:txBody>
      </p:sp>
      <p:sp>
        <p:nvSpPr>
          <p:cNvPr id="3" name="Text Placeholder 2">
            <a:extLst>
              <a:ext uri="{FF2B5EF4-FFF2-40B4-BE49-F238E27FC236}">
                <a16:creationId xmlns:a16="http://schemas.microsoft.com/office/drawing/2014/main" id="{9BBED276-D821-1BFD-DEF1-D4C0A2511401}"/>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a:extLst>
              <a:ext uri="{FF2B5EF4-FFF2-40B4-BE49-F238E27FC236}">
                <a16:creationId xmlns:a16="http://schemas.microsoft.com/office/drawing/2014/main" id="{5D7C17EE-F8A2-E43B-6470-A41D954BA0E5}"/>
              </a:ext>
            </a:extLst>
          </p:cNvPr>
          <p:cNvSpPr>
            <a:spLocks noGrp="1"/>
          </p:cNvSpPr>
          <p:nvPr>
            <p:ph type="dt" sz="half" idx="10"/>
          </p:nvPr>
        </p:nvSpPr>
        <p:spPr/>
        <p:txBody>
          <a:bodyPr/>
          <a:lstStyle/>
          <a:p>
            <a:fld id="{9FDF7DC7-A234-4BB4-BBC4-6D55FBFB292F}" type="datetimeFigureOut">
              <a:rPr lang="tr-TR" smtClean="0"/>
              <a:t>29.05.2026</a:t>
            </a:fld>
            <a:endParaRPr lang="tr-TR"/>
          </a:p>
        </p:txBody>
      </p:sp>
      <p:sp>
        <p:nvSpPr>
          <p:cNvPr id="5" name="Footer Placeholder 4">
            <a:extLst>
              <a:ext uri="{FF2B5EF4-FFF2-40B4-BE49-F238E27FC236}">
                <a16:creationId xmlns:a16="http://schemas.microsoft.com/office/drawing/2014/main" id="{467EAEF6-0F39-7C90-9875-DA5D4AA7A16F}"/>
              </a:ext>
            </a:extLst>
          </p:cNvPr>
          <p:cNvSpPr>
            <a:spLocks noGrp="1"/>
          </p:cNvSpPr>
          <p:nvPr>
            <p:ph type="ftr" sz="quarter" idx="11"/>
          </p:nvPr>
        </p:nvSpPr>
        <p:spPr/>
        <p:txBody>
          <a:bodyPr/>
          <a:lstStyle/>
          <a:p>
            <a:endParaRPr lang="tr-TR"/>
          </a:p>
        </p:txBody>
      </p:sp>
      <p:sp>
        <p:nvSpPr>
          <p:cNvPr id="6" name="Slide Number Placeholder 5">
            <a:extLst>
              <a:ext uri="{FF2B5EF4-FFF2-40B4-BE49-F238E27FC236}">
                <a16:creationId xmlns:a16="http://schemas.microsoft.com/office/drawing/2014/main" id="{4CAB8161-8D2C-6A36-4EC1-6AD675807742}"/>
              </a:ext>
            </a:extLst>
          </p:cNvPr>
          <p:cNvSpPr>
            <a:spLocks noGrp="1"/>
          </p:cNvSpPr>
          <p:nvPr>
            <p:ph type="sldNum" sz="quarter" idx="12"/>
          </p:nvPr>
        </p:nvSpPr>
        <p:spPr/>
        <p:txBody>
          <a:bodyPr/>
          <a:lstStyle/>
          <a:p>
            <a:fld id="{C58F6F8D-2212-4859-9B2E-B16E3525963D}" type="slidenum">
              <a:rPr lang="tr-TR" smtClean="0"/>
              <a:t>‹#›</a:t>
            </a:fld>
            <a:endParaRPr lang="tr-TR"/>
          </a:p>
        </p:txBody>
      </p:sp>
    </p:spTree>
    <p:extLst>
      <p:ext uri="{BB962C8B-B14F-4D97-AF65-F5344CB8AC3E}">
        <p14:creationId xmlns:p14="http://schemas.microsoft.com/office/powerpoint/2010/main" val="36186771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9FDF7DC7-A234-4BB4-BBC4-6D55FBFB292F}" type="datetimeFigureOut">
              <a:rPr lang="tr-TR" smtClean="0"/>
              <a:t>29.05.2026</a:t>
            </a:fld>
            <a:endParaRPr lang="tr-TR"/>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tr-TR"/>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C58F6F8D-2212-4859-9B2E-B16E3525963D}" type="slidenum">
              <a:rPr lang="tr-TR" smtClean="0"/>
              <a:t>‹#›</a:t>
            </a:fld>
            <a:endParaRPr lang="tr-TR"/>
          </a:p>
        </p:txBody>
      </p:sp>
    </p:spTree>
    <p:extLst>
      <p:ext uri="{BB962C8B-B14F-4D97-AF65-F5344CB8AC3E}">
        <p14:creationId xmlns:p14="http://schemas.microsoft.com/office/powerpoint/2010/main" val="423484023"/>
      </p:ext>
    </p:extLst>
  </p:cSld>
  <p:clrMap bg1="dk1" tx1="lt1" bg2="dk2" tx2="lt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 id="2147483696" r:id="rId16"/>
    <p:sldLayoutId id="2147483697" r:id="rId17"/>
    <p:sldLayoutId id="2147483698" r:id="rId18"/>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hyperlink" Target="https://battlegridweb.onrender.com/"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B9589B-43C5-22B5-2D92-DCF2FCC07908}"/>
              </a:ext>
            </a:extLst>
          </p:cNvPr>
          <p:cNvSpPr txBox="1"/>
          <p:nvPr/>
        </p:nvSpPr>
        <p:spPr>
          <a:xfrm>
            <a:off x="885821" y="2070414"/>
            <a:ext cx="5210177" cy="769441"/>
          </a:xfrm>
          <a:prstGeom prst="rect">
            <a:avLst/>
          </a:prstGeom>
          <a:noFill/>
        </p:spPr>
        <p:txBody>
          <a:bodyPr vert="horz" wrap="square" rtlCol="0">
            <a:spAutoFit/>
          </a:bodyPr>
          <a:lstStyle/>
          <a:p>
            <a:r>
              <a:rPr lang="tr-TR" sz="4400" b="1" dirty="0"/>
              <a:t>Battle</a:t>
            </a:r>
            <a:r>
              <a:rPr lang="tr-TR" sz="4400" b="1" dirty="0">
                <a:solidFill>
                  <a:srgbClr val="00B0F0"/>
                </a:solidFill>
              </a:rPr>
              <a:t>Grid</a:t>
            </a:r>
          </a:p>
        </p:txBody>
      </p:sp>
      <p:sp>
        <p:nvSpPr>
          <p:cNvPr id="3" name="TextBox 2">
            <a:extLst>
              <a:ext uri="{FF2B5EF4-FFF2-40B4-BE49-F238E27FC236}">
                <a16:creationId xmlns:a16="http://schemas.microsoft.com/office/drawing/2014/main" id="{131512C2-2B88-CB97-A365-C68E3313A1BC}"/>
              </a:ext>
            </a:extLst>
          </p:cNvPr>
          <p:cNvSpPr txBox="1"/>
          <p:nvPr/>
        </p:nvSpPr>
        <p:spPr>
          <a:xfrm>
            <a:off x="1301749" y="2934372"/>
            <a:ext cx="4718048" cy="400110"/>
          </a:xfrm>
          <a:prstGeom prst="rect">
            <a:avLst/>
          </a:prstGeom>
          <a:noFill/>
        </p:spPr>
        <p:txBody>
          <a:bodyPr vert="horz" wrap="square" rtlCol="0">
            <a:spAutoFit/>
          </a:bodyPr>
          <a:lstStyle/>
          <a:p>
            <a:r>
              <a:rPr lang="en-US" sz="2000" dirty="0">
                <a:solidFill>
                  <a:schemeClr val="bg2">
                    <a:lumMod val="50000"/>
                    <a:lumOff val="50000"/>
                  </a:schemeClr>
                </a:solidFill>
              </a:rPr>
              <a:t>Web-Based Multiplayer Battleship</a:t>
            </a:r>
            <a:endParaRPr lang="tr-TR" sz="2000" dirty="0">
              <a:solidFill>
                <a:schemeClr val="bg2">
                  <a:lumMod val="50000"/>
                  <a:lumOff val="50000"/>
                </a:schemeClr>
              </a:solidFill>
            </a:endParaRPr>
          </a:p>
        </p:txBody>
      </p:sp>
      <p:sp>
        <p:nvSpPr>
          <p:cNvPr id="4" name="TextBox 3">
            <a:extLst>
              <a:ext uri="{FF2B5EF4-FFF2-40B4-BE49-F238E27FC236}">
                <a16:creationId xmlns:a16="http://schemas.microsoft.com/office/drawing/2014/main" id="{089701C8-EFB7-0BD1-CAA6-90D76E89FF36}"/>
              </a:ext>
            </a:extLst>
          </p:cNvPr>
          <p:cNvSpPr txBox="1"/>
          <p:nvPr/>
        </p:nvSpPr>
        <p:spPr>
          <a:xfrm>
            <a:off x="6095997" y="1857154"/>
            <a:ext cx="5210177" cy="2554545"/>
          </a:xfrm>
          <a:prstGeom prst="rect">
            <a:avLst/>
          </a:prstGeom>
          <a:noFill/>
        </p:spPr>
        <p:txBody>
          <a:bodyPr vert="horz" wrap="square" rtlCol="0">
            <a:spAutoFit/>
          </a:bodyPr>
          <a:lstStyle/>
          <a:p>
            <a:pPr algn="ctr"/>
            <a:r>
              <a:rPr lang="en-US" sz="2000" dirty="0"/>
              <a:t>Serkan EROL</a:t>
            </a:r>
          </a:p>
          <a:p>
            <a:pPr algn="ctr"/>
            <a:r>
              <a:rPr lang="en-US" sz="2000" dirty="0"/>
              <a:t>150122619</a:t>
            </a:r>
          </a:p>
          <a:p>
            <a:pPr algn="ctr"/>
            <a:endParaRPr lang="en-US" sz="2000" dirty="0"/>
          </a:p>
          <a:p>
            <a:pPr algn="ctr"/>
            <a:r>
              <a:rPr lang="en-US" sz="2000" dirty="0"/>
              <a:t>Yusuf Emir ONAN</a:t>
            </a:r>
          </a:p>
          <a:p>
            <a:pPr algn="ctr"/>
            <a:r>
              <a:rPr lang="en-US" sz="2000" dirty="0"/>
              <a:t>524125010</a:t>
            </a:r>
          </a:p>
          <a:p>
            <a:pPr algn="ctr"/>
            <a:endParaRPr lang="en-US" sz="2000" dirty="0"/>
          </a:p>
          <a:p>
            <a:pPr algn="ctr"/>
            <a:r>
              <a:rPr lang="en-US" sz="2000" dirty="0"/>
              <a:t>Başak AKYÜZ</a:t>
            </a:r>
          </a:p>
          <a:p>
            <a:pPr algn="ctr"/>
            <a:r>
              <a:rPr lang="en-US" sz="2000" dirty="0"/>
              <a:t>150122827</a:t>
            </a:r>
          </a:p>
        </p:txBody>
      </p:sp>
      <p:sp>
        <p:nvSpPr>
          <p:cNvPr id="6" name="TextBox 5">
            <a:extLst>
              <a:ext uri="{FF2B5EF4-FFF2-40B4-BE49-F238E27FC236}">
                <a16:creationId xmlns:a16="http://schemas.microsoft.com/office/drawing/2014/main" id="{E427E8DA-2129-AFD3-E743-E81EAA8EA119}"/>
              </a:ext>
            </a:extLst>
          </p:cNvPr>
          <p:cNvSpPr txBox="1"/>
          <p:nvPr/>
        </p:nvSpPr>
        <p:spPr>
          <a:xfrm>
            <a:off x="1714501" y="3428999"/>
            <a:ext cx="4381496" cy="369332"/>
          </a:xfrm>
          <a:prstGeom prst="rect">
            <a:avLst/>
          </a:prstGeom>
          <a:noFill/>
        </p:spPr>
        <p:txBody>
          <a:bodyPr vert="horz" wrap="square" rtlCol="0">
            <a:spAutoFit/>
          </a:bodyPr>
          <a:lstStyle/>
          <a:p>
            <a:r>
              <a:rPr lang="en-US" dirty="0">
                <a:solidFill>
                  <a:schemeClr val="bg2">
                    <a:lumMod val="50000"/>
                    <a:lumOff val="50000"/>
                  </a:schemeClr>
                </a:solidFill>
              </a:rPr>
              <a:t>CSE3044 Software Engineering Project</a:t>
            </a:r>
            <a:endParaRPr lang="tr-TR" dirty="0">
              <a:solidFill>
                <a:schemeClr val="bg2">
                  <a:lumMod val="50000"/>
                  <a:lumOff val="50000"/>
                </a:schemeClr>
              </a:solidFill>
            </a:endParaRPr>
          </a:p>
        </p:txBody>
      </p:sp>
    </p:spTree>
    <p:extLst>
      <p:ext uri="{BB962C8B-B14F-4D97-AF65-F5344CB8AC3E}">
        <p14:creationId xmlns:p14="http://schemas.microsoft.com/office/powerpoint/2010/main" val="1600595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1CF01CF-F74D-0427-1027-F5A39C016DDB}"/>
              </a:ext>
            </a:extLst>
          </p:cNvPr>
          <p:cNvSpPr txBox="1"/>
          <p:nvPr/>
        </p:nvSpPr>
        <p:spPr>
          <a:xfrm>
            <a:off x="1016000" y="2794000"/>
            <a:ext cx="10160000" cy="707886"/>
          </a:xfrm>
          <a:prstGeom prst="rect">
            <a:avLst/>
          </a:prstGeom>
          <a:noFill/>
        </p:spPr>
        <p:txBody>
          <a:bodyPr vert="horz" rtlCol="0">
            <a:spAutoFit/>
          </a:bodyPr>
          <a:lstStyle/>
          <a:p>
            <a:r>
              <a:rPr lang="tr-TR" sz="4000" b="1" dirty="0">
                <a:solidFill>
                  <a:srgbClr val="00B0F0"/>
                </a:solidFill>
              </a:rPr>
              <a:t>1. Problem Definition</a:t>
            </a:r>
          </a:p>
        </p:txBody>
      </p:sp>
    </p:spTree>
    <p:extLst>
      <p:ext uri="{BB962C8B-B14F-4D97-AF65-F5344CB8AC3E}">
        <p14:creationId xmlns:p14="http://schemas.microsoft.com/office/powerpoint/2010/main" val="5284103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620B6-4485-D518-E37E-63F9B50CD4C5}"/>
              </a:ext>
            </a:extLst>
          </p:cNvPr>
          <p:cNvSpPr>
            <a:spLocks noGrp="1"/>
          </p:cNvSpPr>
          <p:nvPr>
            <p:ph type="title"/>
          </p:nvPr>
        </p:nvSpPr>
        <p:spPr/>
        <p:txBody>
          <a:bodyPr/>
          <a:lstStyle/>
          <a:p>
            <a:r>
              <a:rPr lang="tr-TR" dirty="0"/>
              <a:t>What is the project</a:t>
            </a:r>
            <a:r>
              <a:rPr lang="en-US" dirty="0"/>
              <a:t> about</a:t>
            </a:r>
            <a:r>
              <a:rPr lang="tr-TR" dirty="0"/>
              <a:t>?</a:t>
            </a:r>
          </a:p>
        </p:txBody>
      </p:sp>
      <p:sp>
        <p:nvSpPr>
          <p:cNvPr id="3" name="Text Placeholder 2">
            <a:extLst>
              <a:ext uri="{FF2B5EF4-FFF2-40B4-BE49-F238E27FC236}">
                <a16:creationId xmlns:a16="http://schemas.microsoft.com/office/drawing/2014/main" id="{A4994B2C-AA7D-53E8-0A47-D35399183473}"/>
              </a:ext>
            </a:extLst>
          </p:cNvPr>
          <p:cNvSpPr>
            <a:spLocks noGrp="1"/>
          </p:cNvSpPr>
          <p:nvPr>
            <p:ph type="body" idx="1"/>
          </p:nvPr>
        </p:nvSpPr>
        <p:spPr>
          <a:xfrm>
            <a:off x="838200" y="1825625"/>
            <a:ext cx="10515600" cy="1974850"/>
          </a:xfrm>
        </p:spPr>
        <p:txBody>
          <a:bodyPr>
            <a:normAutofit lnSpcReduction="10000"/>
          </a:bodyPr>
          <a:lstStyle/>
          <a:p>
            <a:r>
              <a:rPr lang="en-US" sz="1800" dirty="0"/>
              <a:t>BattleGrid is a web-based multiplayer version of the classic Battleship game.</a:t>
            </a:r>
          </a:p>
          <a:p>
            <a:r>
              <a:rPr lang="en-US" sz="1800" dirty="0"/>
              <a:t>Registered players log in, are matched by rank, and compete in turn-based online matches.</a:t>
            </a:r>
          </a:p>
          <a:p>
            <a:r>
              <a:rPr lang="en-US" sz="1800" dirty="0">
                <a:ea typeface="+mn-lt"/>
                <a:cs typeface="+mn-lt"/>
              </a:rPr>
              <a:t>The project addresses the need for a fair and synchronized online version of Battleship by handling matchmaking based on rankings, ship placement validation, turn control, result calculation, ranking, leaderboard, and match history through a server-based system.</a:t>
            </a:r>
            <a:endParaRPr lang="en-US" sz="1800" dirty="0"/>
          </a:p>
          <a:p>
            <a:r>
              <a:rPr lang="en-US" sz="1800" dirty="0"/>
              <a:t>Course term project for CSE3044 Software Engineering</a:t>
            </a:r>
            <a:endParaRPr lang="tr-TR" sz="1800" dirty="0"/>
          </a:p>
        </p:txBody>
      </p:sp>
    </p:spTree>
    <p:extLst>
      <p:ext uri="{BB962C8B-B14F-4D97-AF65-F5344CB8AC3E}">
        <p14:creationId xmlns:p14="http://schemas.microsoft.com/office/powerpoint/2010/main" val="1358714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Problem Statement</a:t>
            </a:r>
          </a:p>
        </p:txBody>
      </p:sp>
      <p:sp>
        <p:nvSpPr>
          <p:cNvPr id="3" name="Content Placeholder 2"/>
          <p:cNvSpPr>
            <a:spLocks noGrp="1"/>
          </p:cNvSpPr>
          <p:nvPr>
            <p:ph idx="1"/>
          </p:nvPr>
        </p:nvSpPr>
        <p:spPr/>
        <p:txBody>
          <a:bodyPr vert="horz" lIns="91440" tIns="45720" rIns="91440" bIns="45720" rtlCol="0" anchor="t">
            <a:normAutofit/>
          </a:bodyPr>
          <a:lstStyle/>
          <a:p>
            <a:r>
              <a:rPr dirty="0"/>
              <a:t>Battleship is traditionally played between two players</a:t>
            </a:r>
            <a:endParaRPr lang="tr-TR" dirty="0"/>
          </a:p>
          <a:p>
            <a:r>
              <a:rPr dirty="0"/>
              <a:t>Multiplayer </a:t>
            </a:r>
            <a:r>
              <a:rPr lang="en-US" dirty="0"/>
              <a:t>real-time </a:t>
            </a:r>
            <a:r>
              <a:rPr dirty="0"/>
              <a:t>gameplay requires synchronization</a:t>
            </a:r>
            <a:endParaRPr dirty="0">
              <a:ea typeface="Calibri"/>
              <a:cs typeface="Calibri"/>
            </a:endParaRPr>
          </a:p>
          <a:p>
            <a:r>
              <a:rPr dirty="0"/>
              <a:t>Rules must be enforced consistently</a:t>
            </a:r>
            <a:endParaRPr dirty="0">
              <a:ea typeface="Calibri"/>
              <a:cs typeface="Calibri"/>
            </a:endParaRPr>
          </a:p>
          <a:p>
            <a:r>
              <a:rPr dirty="0"/>
              <a:t>Server-side management is required</a:t>
            </a:r>
            <a:endParaRPr dirty="0">
              <a:ea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18AB5-912D-30BC-C772-142F74613587}"/>
              </a:ext>
            </a:extLst>
          </p:cNvPr>
          <p:cNvSpPr>
            <a:spLocks noGrp="1"/>
          </p:cNvSpPr>
          <p:nvPr>
            <p:ph type="title"/>
          </p:nvPr>
        </p:nvSpPr>
        <p:spPr/>
        <p:txBody>
          <a:bodyPr/>
          <a:lstStyle/>
          <a:p>
            <a:r>
              <a:rPr lang="en-US" dirty="0"/>
              <a:t>Motivation and why it matters</a:t>
            </a:r>
            <a:endParaRPr lang="tr-TR" dirty="0"/>
          </a:p>
        </p:txBody>
      </p:sp>
      <p:sp>
        <p:nvSpPr>
          <p:cNvPr id="3" name="Text Placeholder 2">
            <a:extLst>
              <a:ext uri="{FF2B5EF4-FFF2-40B4-BE49-F238E27FC236}">
                <a16:creationId xmlns:a16="http://schemas.microsoft.com/office/drawing/2014/main" id="{AE8A590F-09D8-EAB0-9911-037F7F476168}"/>
              </a:ext>
            </a:extLst>
          </p:cNvPr>
          <p:cNvSpPr>
            <a:spLocks noGrp="1"/>
          </p:cNvSpPr>
          <p:nvPr>
            <p:ph type="body" idx="1"/>
          </p:nvPr>
        </p:nvSpPr>
        <p:spPr/>
        <p:txBody>
          <a:bodyPr>
            <a:normAutofit/>
          </a:bodyPr>
          <a:lstStyle/>
          <a:p>
            <a:r>
              <a:rPr lang="en-US" sz="1800" dirty="0"/>
              <a:t>Provides a fair, structured, competitive online multiplayer experience for the classic strategy game.</a:t>
            </a:r>
          </a:p>
          <a:p>
            <a:r>
              <a:rPr lang="en-US" sz="1800" dirty="0"/>
              <a:t>Demonstrates full software engineering; requirements, design, implementation, testing, and deployment.</a:t>
            </a:r>
          </a:p>
          <a:p>
            <a:r>
              <a:rPr lang="en-US" sz="1800" dirty="0"/>
              <a:t>Combines REST APIs for persistence with SignalR for real-time matchmaking and gameplay. This implementation demonstrates problem solving skills by finding middle ground between performance and data persistence.</a:t>
            </a:r>
          </a:p>
        </p:txBody>
      </p:sp>
    </p:spTree>
    <p:extLst>
      <p:ext uri="{BB962C8B-B14F-4D97-AF65-F5344CB8AC3E}">
        <p14:creationId xmlns:p14="http://schemas.microsoft.com/office/powerpoint/2010/main" val="4580476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5E2B10-A75C-C3B8-C06A-65A07463ED1C}"/>
              </a:ext>
            </a:extLst>
          </p:cNvPr>
          <p:cNvSpPr txBox="1"/>
          <p:nvPr/>
        </p:nvSpPr>
        <p:spPr>
          <a:xfrm>
            <a:off x="1016000" y="2794000"/>
            <a:ext cx="10160000" cy="707886"/>
          </a:xfrm>
          <a:prstGeom prst="rect">
            <a:avLst/>
          </a:prstGeom>
          <a:noFill/>
        </p:spPr>
        <p:txBody>
          <a:bodyPr vert="horz" rtlCol="0">
            <a:spAutoFit/>
          </a:bodyPr>
          <a:lstStyle/>
          <a:p>
            <a:r>
              <a:rPr lang="tr-TR" sz="4000" b="1" dirty="0">
                <a:solidFill>
                  <a:srgbClr val="00B0F0"/>
                </a:solidFill>
              </a:rPr>
              <a:t>2. Project Aims</a:t>
            </a:r>
          </a:p>
        </p:txBody>
      </p:sp>
    </p:spTree>
    <p:extLst>
      <p:ext uri="{BB962C8B-B14F-4D97-AF65-F5344CB8AC3E}">
        <p14:creationId xmlns:p14="http://schemas.microsoft.com/office/powerpoint/2010/main" val="30131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CA301-7AB2-FC15-E733-0BF92CBF7077}"/>
              </a:ext>
            </a:extLst>
          </p:cNvPr>
          <p:cNvSpPr>
            <a:spLocks noGrp="1"/>
          </p:cNvSpPr>
          <p:nvPr>
            <p:ph type="title"/>
          </p:nvPr>
        </p:nvSpPr>
        <p:spPr/>
        <p:txBody>
          <a:bodyPr/>
          <a:lstStyle/>
          <a:p>
            <a:r>
              <a:rPr lang="en-US" dirty="0"/>
              <a:t>Project aims</a:t>
            </a:r>
            <a:endParaRPr lang="tr-TR" dirty="0"/>
          </a:p>
        </p:txBody>
      </p:sp>
      <p:sp>
        <p:nvSpPr>
          <p:cNvPr id="3" name="Text Placeholder 2">
            <a:extLst>
              <a:ext uri="{FF2B5EF4-FFF2-40B4-BE49-F238E27FC236}">
                <a16:creationId xmlns:a16="http://schemas.microsoft.com/office/drawing/2014/main" id="{EDC9B391-AEA0-2939-943C-67AC9E1A208B}"/>
              </a:ext>
            </a:extLst>
          </p:cNvPr>
          <p:cNvSpPr>
            <a:spLocks noGrp="1"/>
          </p:cNvSpPr>
          <p:nvPr>
            <p:ph type="body" idx="1"/>
          </p:nvPr>
        </p:nvSpPr>
        <p:spPr/>
        <p:txBody>
          <a:bodyPr>
            <a:normAutofit/>
          </a:bodyPr>
          <a:lstStyle/>
          <a:p>
            <a:r>
              <a:rPr lang="en-US" sz="1800" dirty="0">
                <a:ea typeface="+mn-lt"/>
                <a:cs typeface="+mn-lt"/>
              </a:rPr>
              <a:t>Implement ranking-based matchmaking for fair competition.</a:t>
            </a:r>
          </a:p>
          <a:p>
            <a:r>
              <a:rPr lang="en-US" sz="1800" dirty="0">
                <a:ea typeface="+mn-lt"/>
                <a:cs typeface="+mn-lt"/>
              </a:rPr>
              <a:t>Validate ship placements and player actions according to game rules.</a:t>
            </a:r>
            <a:endParaRPr lang="en-US" sz="1800" dirty="0">
              <a:ea typeface="Calibri"/>
              <a:cs typeface="Calibri"/>
            </a:endParaRPr>
          </a:p>
          <a:p>
            <a:r>
              <a:rPr lang="en-US" sz="1800" dirty="0">
                <a:ea typeface="+mn-lt"/>
                <a:cs typeface="+mn-lt"/>
              </a:rPr>
              <a:t>Provide real-time turn-based gameplay between two players.</a:t>
            </a:r>
            <a:endParaRPr lang="en-US" sz="1800" dirty="0">
              <a:ea typeface="Calibri"/>
              <a:cs typeface="Calibri"/>
            </a:endParaRPr>
          </a:p>
          <a:p>
            <a:r>
              <a:rPr lang="en-US" sz="1800" dirty="0">
                <a:ea typeface="+mn-lt"/>
                <a:cs typeface="+mn-lt"/>
              </a:rPr>
              <a:t>Maintain player statistics, rankings, and match history.</a:t>
            </a:r>
          </a:p>
          <a:p>
            <a:r>
              <a:rPr lang="tr-TR" sz="1800" dirty="0"/>
              <a:t>Administrative controls (ban players, season/leaderboard management).</a:t>
            </a:r>
            <a:endParaRPr lang="en-US" sz="1800" dirty="0">
              <a:ea typeface="Calibri"/>
              <a:cs typeface="Calibri"/>
            </a:endParaRPr>
          </a:p>
          <a:p>
            <a:r>
              <a:rPr lang="en-US" sz="1800" dirty="0">
                <a:ea typeface="Calibri"/>
                <a:cs typeface="Calibri"/>
              </a:rPr>
              <a:t>Ultimately, </a:t>
            </a:r>
            <a:r>
              <a:rPr lang="en-US" sz="1800" dirty="0">
                <a:ea typeface="+mn-lt"/>
                <a:cs typeface="+mn-lt"/>
              </a:rPr>
              <a:t>develop a web-based multiplayer version of the classic Battleship game.</a:t>
            </a:r>
          </a:p>
          <a:p>
            <a:r>
              <a:rPr lang="en-US" sz="1800" dirty="0"/>
              <a:t>Deploy and enjoy!</a:t>
            </a:r>
            <a:endParaRPr lang="tr-TR" sz="1800" dirty="0"/>
          </a:p>
        </p:txBody>
      </p:sp>
    </p:spTree>
    <p:extLst>
      <p:ext uri="{BB962C8B-B14F-4D97-AF65-F5344CB8AC3E}">
        <p14:creationId xmlns:p14="http://schemas.microsoft.com/office/powerpoint/2010/main" val="31794028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B57375-BCF8-F278-C47D-95CD083AEA8C}"/>
              </a:ext>
            </a:extLst>
          </p:cNvPr>
          <p:cNvSpPr txBox="1"/>
          <p:nvPr/>
        </p:nvSpPr>
        <p:spPr>
          <a:xfrm>
            <a:off x="1016000" y="2794000"/>
            <a:ext cx="10160000" cy="707886"/>
          </a:xfrm>
          <a:prstGeom prst="rect">
            <a:avLst/>
          </a:prstGeom>
          <a:noFill/>
        </p:spPr>
        <p:txBody>
          <a:bodyPr vert="horz" rtlCol="0">
            <a:spAutoFit/>
          </a:bodyPr>
          <a:lstStyle/>
          <a:p>
            <a:r>
              <a:rPr lang="tr-TR" sz="4000" b="1" dirty="0">
                <a:solidFill>
                  <a:srgbClr val="00B0F0"/>
                </a:solidFill>
              </a:rPr>
              <a:t>3. Related Work</a:t>
            </a:r>
          </a:p>
        </p:txBody>
      </p:sp>
    </p:spTree>
    <p:extLst>
      <p:ext uri="{BB962C8B-B14F-4D97-AF65-F5344CB8AC3E}">
        <p14:creationId xmlns:p14="http://schemas.microsoft.com/office/powerpoint/2010/main" val="8217255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CF872-5191-2364-2D65-C91AE1A4D76F}"/>
              </a:ext>
            </a:extLst>
          </p:cNvPr>
          <p:cNvSpPr>
            <a:spLocks noGrp="1"/>
          </p:cNvSpPr>
          <p:nvPr>
            <p:ph type="title"/>
          </p:nvPr>
        </p:nvSpPr>
        <p:spPr/>
        <p:txBody>
          <a:bodyPr/>
          <a:lstStyle/>
          <a:p>
            <a:r>
              <a:rPr lang="en-US" dirty="0"/>
              <a:t>Similar systems and our contribution</a:t>
            </a:r>
            <a:endParaRPr lang="tr-TR" dirty="0"/>
          </a:p>
        </p:txBody>
      </p:sp>
      <p:sp>
        <p:nvSpPr>
          <p:cNvPr id="3" name="Text Placeholder 2">
            <a:extLst>
              <a:ext uri="{FF2B5EF4-FFF2-40B4-BE49-F238E27FC236}">
                <a16:creationId xmlns:a16="http://schemas.microsoft.com/office/drawing/2014/main" id="{5AF9C973-CCB3-E70C-3B78-4DEE7FEA5EDF}"/>
              </a:ext>
            </a:extLst>
          </p:cNvPr>
          <p:cNvSpPr>
            <a:spLocks noGrp="1"/>
          </p:cNvSpPr>
          <p:nvPr>
            <p:ph type="body" idx="1"/>
          </p:nvPr>
        </p:nvSpPr>
        <p:spPr/>
        <p:txBody>
          <a:bodyPr>
            <a:normAutofit fontScale="77500" lnSpcReduction="20000"/>
          </a:bodyPr>
          <a:lstStyle/>
          <a:p>
            <a:pPr>
              <a:lnSpc>
                <a:spcPct val="100000"/>
              </a:lnSpc>
            </a:pPr>
            <a:r>
              <a:rPr lang="en-US" sz="1800" dirty="0"/>
              <a:t>Classic Battleship: Local or hot-seat play; limited online ranking and persistence.</a:t>
            </a:r>
          </a:p>
          <a:p>
            <a:pPr>
              <a:lnSpc>
                <a:spcPct val="100000"/>
              </a:lnSpc>
            </a:pPr>
            <a:r>
              <a:rPr lang="en-US" sz="1800" dirty="0"/>
              <a:t>Other web-based versions that either;</a:t>
            </a:r>
          </a:p>
          <a:p>
            <a:pPr lvl="1">
              <a:lnSpc>
                <a:spcPct val="100000"/>
              </a:lnSpc>
            </a:pPr>
            <a:r>
              <a:rPr lang="en-US" sz="1400" dirty="0"/>
              <a:t>Do not implement in-memory game play. These systems have a high response time problem.</a:t>
            </a:r>
          </a:p>
          <a:p>
            <a:pPr lvl="1">
              <a:lnSpc>
                <a:spcPct val="100000"/>
              </a:lnSpc>
            </a:pPr>
            <a:r>
              <a:rPr lang="en-US" sz="1400" dirty="0"/>
              <a:t>Implement in-memory game play but do it so in a manner that jeopardizes the security and fairness of the games.</a:t>
            </a:r>
          </a:p>
          <a:p>
            <a:pPr>
              <a:lnSpc>
                <a:spcPct val="100000"/>
              </a:lnSpc>
            </a:pPr>
            <a:r>
              <a:rPr lang="en-US" sz="1800" dirty="0"/>
              <a:t>Generic ASP.NET SignalR demos: Real-time messaging without full game rules or matchmaking.</a:t>
            </a:r>
          </a:p>
          <a:p>
            <a:pPr>
              <a:lnSpc>
                <a:spcPct val="100000"/>
              </a:lnSpc>
            </a:pPr>
            <a:r>
              <a:rPr lang="en-US" sz="1800" dirty="0"/>
              <a:t>BattleGrid adds: </a:t>
            </a:r>
          </a:p>
          <a:p>
            <a:pPr lvl="1">
              <a:lnSpc>
                <a:spcPct val="100000"/>
              </a:lnSpc>
            </a:pPr>
            <a:r>
              <a:rPr lang="en-US" sz="1400" dirty="0"/>
              <a:t>PostgreSQL-backed accounts and player stats for persistence,</a:t>
            </a:r>
          </a:p>
          <a:p>
            <a:pPr lvl="1">
              <a:lnSpc>
                <a:spcPct val="100000"/>
              </a:lnSpc>
            </a:pPr>
            <a:r>
              <a:rPr lang="en-US" sz="1400" dirty="0"/>
              <a:t>Ranking-based queue logic,</a:t>
            </a:r>
          </a:p>
          <a:p>
            <a:pPr lvl="1">
              <a:lnSpc>
                <a:spcPct val="100000"/>
              </a:lnSpc>
            </a:pPr>
            <a:r>
              <a:rPr lang="en-US" sz="1400" dirty="0"/>
              <a:t>Seasons and ranking carry over calculations for new seasons</a:t>
            </a:r>
          </a:p>
          <a:p>
            <a:pPr lvl="1">
              <a:lnSpc>
                <a:spcPct val="100000"/>
              </a:lnSpc>
            </a:pPr>
            <a:r>
              <a:rPr lang="en-US" sz="1400" dirty="0"/>
              <a:t>Match replay, </a:t>
            </a:r>
          </a:p>
          <a:p>
            <a:pPr lvl="1">
              <a:lnSpc>
                <a:spcPct val="100000"/>
              </a:lnSpc>
            </a:pPr>
            <a:r>
              <a:rPr lang="en-US" sz="1400" dirty="0"/>
              <a:t>Admin moderation.</a:t>
            </a:r>
          </a:p>
          <a:p>
            <a:pPr>
              <a:lnSpc>
                <a:spcPct val="100000"/>
              </a:lnSpc>
            </a:pPr>
            <a:r>
              <a:rPr lang="en-US" sz="1800" dirty="0"/>
              <a:t>Design Decisions:</a:t>
            </a:r>
          </a:p>
          <a:p>
            <a:pPr lvl="1">
              <a:lnSpc>
                <a:spcPct val="100000"/>
              </a:lnSpc>
            </a:pPr>
            <a:r>
              <a:rPr lang="en-US" sz="1400" dirty="0"/>
              <a:t>Ranking-based matchmaking over random FIFO for fair competition.</a:t>
            </a:r>
          </a:p>
          <a:p>
            <a:pPr lvl="1">
              <a:lnSpc>
                <a:spcPct val="100000"/>
              </a:lnSpc>
            </a:pPr>
            <a:r>
              <a:rPr lang="en-US" sz="1400" dirty="0"/>
              <a:t>In-memory game management for performance</a:t>
            </a:r>
          </a:p>
          <a:p>
            <a:pPr lvl="1">
              <a:lnSpc>
                <a:spcPct val="100000"/>
              </a:lnSpc>
            </a:pPr>
            <a:r>
              <a:rPr lang="en-US" sz="1400" dirty="0"/>
              <a:t>Batched DB writes (placements after both ready, moves after match end) for persistence.</a:t>
            </a:r>
            <a:endParaRPr lang="tr-TR" sz="1400" dirty="0"/>
          </a:p>
        </p:txBody>
      </p:sp>
    </p:spTree>
    <p:extLst>
      <p:ext uri="{BB962C8B-B14F-4D97-AF65-F5344CB8AC3E}">
        <p14:creationId xmlns:p14="http://schemas.microsoft.com/office/powerpoint/2010/main" val="3896064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E080A02-3F07-F785-47CC-F960345874EE}"/>
              </a:ext>
            </a:extLst>
          </p:cNvPr>
          <p:cNvSpPr txBox="1"/>
          <p:nvPr/>
        </p:nvSpPr>
        <p:spPr>
          <a:xfrm>
            <a:off x="1016000" y="2794000"/>
            <a:ext cx="10160000" cy="707886"/>
          </a:xfrm>
          <a:prstGeom prst="rect">
            <a:avLst/>
          </a:prstGeom>
          <a:noFill/>
        </p:spPr>
        <p:txBody>
          <a:bodyPr vert="horz" rtlCol="0">
            <a:spAutoFit/>
          </a:bodyPr>
          <a:lstStyle/>
          <a:p>
            <a:r>
              <a:rPr lang="tr-TR" sz="4000" b="1" dirty="0">
                <a:solidFill>
                  <a:srgbClr val="00B0F0"/>
                </a:solidFill>
              </a:rPr>
              <a:t>4. Scope</a:t>
            </a:r>
          </a:p>
        </p:txBody>
      </p:sp>
    </p:spTree>
    <p:extLst>
      <p:ext uri="{BB962C8B-B14F-4D97-AF65-F5344CB8AC3E}">
        <p14:creationId xmlns:p14="http://schemas.microsoft.com/office/powerpoint/2010/main" val="32026676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280FE-0FBF-8BA4-45BA-05D70E6F0FF2}"/>
              </a:ext>
            </a:extLst>
          </p:cNvPr>
          <p:cNvSpPr>
            <a:spLocks noGrp="1"/>
          </p:cNvSpPr>
          <p:nvPr>
            <p:ph type="title"/>
          </p:nvPr>
        </p:nvSpPr>
        <p:spPr/>
        <p:txBody>
          <a:bodyPr/>
          <a:lstStyle/>
          <a:p>
            <a:r>
              <a:rPr lang="tr-TR"/>
              <a:t>Constraints and assumptions</a:t>
            </a:r>
          </a:p>
        </p:txBody>
      </p:sp>
      <p:sp>
        <p:nvSpPr>
          <p:cNvPr id="3" name="Text Placeholder 2">
            <a:extLst>
              <a:ext uri="{FF2B5EF4-FFF2-40B4-BE49-F238E27FC236}">
                <a16:creationId xmlns:a16="http://schemas.microsoft.com/office/drawing/2014/main" id="{9A2CBCFE-7891-AE3C-49D6-3D325B5E5FAB}"/>
              </a:ext>
            </a:extLst>
          </p:cNvPr>
          <p:cNvSpPr>
            <a:spLocks noGrp="1"/>
          </p:cNvSpPr>
          <p:nvPr>
            <p:ph type="body" idx="1"/>
          </p:nvPr>
        </p:nvSpPr>
        <p:spPr/>
        <p:txBody>
          <a:bodyPr>
            <a:normAutofit fontScale="92500" lnSpcReduction="10000"/>
          </a:bodyPr>
          <a:lstStyle/>
          <a:p>
            <a:pPr marL="0" indent="0">
              <a:lnSpc>
                <a:spcPct val="100000"/>
              </a:lnSpc>
              <a:buNone/>
            </a:pPr>
            <a:r>
              <a:rPr lang="tr-TR" sz="1800" b="1" dirty="0"/>
              <a:t>In </a:t>
            </a:r>
            <a:r>
              <a:rPr lang="en-US" sz="1800" b="1" dirty="0"/>
              <a:t>S</a:t>
            </a:r>
            <a:r>
              <a:rPr lang="tr-TR" sz="1800" b="1" dirty="0"/>
              <a:t>cope</a:t>
            </a:r>
            <a:endParaRPr lang="en-US" sz="1800" b="1" dirty="0"/>
          </a:p>
          <a:p>
            <a:pPr>
              <a:lnSpc>
                <a:spcPct val="100000"/>
              </a:lnSpc>
            </a:pPr>
            <a:r>
              <a:rPr lang="en-US" sz="1800" dirty="0"/>
              <a:t>W</a:t>
            </a:r>
            <a:r>
              <a:rPr lang="tr-TR" sz="1800" dirty="0"/>
              <a:t>eb browser clients</a:t>
            </a:r>
            <a:endParaRPr lang="en-US" sz="1800" dirty="0"/>
          </a:p>
          <a:p>
            <a:pPr>
              <a:lnSpc>
                <a:spcPct val="100000"/>
              </a:lnSpc>
            </a:pPr>
            <a:r>
              <a:rPr lang="en-US" sz="1800" dirty="0"/>
              <a:t>User registration, authentication, and authorization</a:t>
            </a:r>
          </a:p>
          <a:p>
            <a:pPr>
              <a:lnSpc>
                <a:spcPct val="100000"/>
              </a:lnSpc>
            </a:pPr>
            <a:r>
              <a:rPr lang="en-US" sz="1800" dirty="0"/>
              <a:t>Rank-based matchmaking</a:t>
            </a:r>
          </a:p>
          <a:p>
            <a:pPr>
              <a:lnSpc>
                <a:spcPct val="100000"/>
              </a:lnSpc>
            </a:pPr>
            <a:r>
              <a:rPr lang="en-US" sz="1800" dirty="0"/>
              <a:t>Ship placement validation</a:t>
            </a:r>
          </a:p>
          <a:p>
            <a:pPr>
              <a:lnSpc>
                <a:spcPct val="100000"/>
              </a:lnSpc>
            </a:pPr>
            <a:r>
              <a:rPr lang="en-US" sz="1800" dirty="0"/>
              <a:t>Real-time multiplayer gameplay</a:t>
            </a:r>
          </a:p>
          <a:p>
            <a:pPr>
              <a:lnSpc>
                <a:spcPct val="100000"/>
              </a:lnSpc>
            </a:pPr>
            <a:r>
              <a:rPr lang="en-US" sz="1800" dirty="0"/>
              <a:t>Server-side rule enforcement</a:t>
            </a:r>
          </a:p>
          <a:p>
            <a:pPr>
              <a:lnSpc>
                <a:spcPct val="100000"/>
              </a:lnSpc>
            </a:pPr>
            <a:r>
              <a:rPr lang="en-US" sz="1800" dirty="0"/>
              <a:t>Leaderboard and ranking system</a:t>
            </a:r>
          </a:p>
          <a:p>
            <a:pPr>
              <a:lnSpc>
                <a:spcPct val="100000"/>
              </a:lnSpc>
            </a:pPr>
            <a:r>
              <a:rPr lang="en-US" sz="1800" dirty="0"/>
              <a:t>Match History tracking</a:t>
            </a:r>
          </a:p>
          <a:p>
            <a:pPr>
              <a:lnSpc>
                <a:spcPct val="100000"/>
              </a:lnSpc>
            </a:pPr>
            <a:r>
              <a:rPr lang="en-US" sz="1800" dirty="0"/>
              <a:t>Match replay capability</a:t>
            </a:r>
          </a:p>
          <a:p>
            <a:pPr>
              <a:lnSpc>
                <a:spcPct val="100000"/>
              </a:lnSpc>
            </a:pPr>
            <a:r>
              <a:rPr lang="en-US" sz="1800" dirty="0"/>
              <a:t>Administrative controls</a:t>
            </a:r>
          </a:p>
        </p:txBody>
      </p:sp>
    </p:spTree>
    <p:extLst>
      <p:ext uri="{BB962C8B-B14F-4D97-AF65-F5344CB8AC3E}">
        <p14:creationId xmlns:p14="http://schemas.microsoft.com/office/powerpoint/2010/main" val="776555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F724980-2B7D-B64D-0B33-091F29FB0F79}"/>
              </a:ext>
            </a:extLst>
          </p:cNvPr>
          <p:cNvSpPr>
            <a:spLocks noGrp="1"/>
          </p:cNvSpPr>
          <p:nvPr>
            <p:ph type="body" idx="1"/>
          </p:nvPr>
        </p:nvSpPr>
        <p:spPr>
          <a:xfrm>
            <a:off x="838200" y="969264"/>
            <a:ext cx="10515600" cy="5207699"/>
          </a:xfrm>
        </p:spPr>
        <p:txBody>
          <a:bodyPr>
            <a:normAutofit/>
          </a:bodyPr>
          <a:lstStyle/>
          <a:p>
            <a:pPr marL="0" indent="0">
              <a:buNone/>
            </a:pPr>
            <a:r>
              <a:rPr lang="en-US" sz="1800" b="1" dirty="0"/>
              <a:t>Out of Scope:</a:t>
            </a:r>
          </a:p>
          <a:p>
            <a:pPr>
              <a:lnSpc>
                <a:spcPct val="100000"/>
              </a:lnSpc>
            </a:pPr>
            <a:r>
              <a:rPr lang="tr-TR" sz="1800" dirty="0"/>
              <a:t>AI opponent</a:t>
            </a:r>
            <a:r>
              <a:rPr lang="en-US" sz="1800" dirty="0"/>
              <a:t> and</a:t>
            </a:r>
          </a:p>
          <a:p>
            <a:pPr>
              <a:lnSpc>
                <a:spcPct val="100000"/>
              </a:lnSpc>
            </a:pPr>
            <a:r>
              <a:rPr lang="en-US" sz="1800" dirty="0"/>
              <a:t>I</a:t>
            </a:r>
            <a:r>
              <a:rPr lang="tr-TR" sz="1800" dirty="0"/>
              <a:t>n-game chat</a:t>
            </a:r>
            <a:endParaRPr lang="en-US" sz="1800" dirty="0"/>
          </a:p>
          <a:p>
            <a:pPr marL="0" indent="0">
              <a:lnSpc>
                <a:spcPct val="100000"/>
              </a:lnSpc>
              <a:buNone/>
            </a:pPr>
            <a:r>
              <a:rPr lang="en-US" sz="1800" dirty="0"/>
              <a:t>were future requirements. As the team anticipated, given timeframe was not enough to reach these goals</a:t>
            </a:r>
          </a:p>
          <a:p>
            <a:pPr>
              <a:lnSpc>
                <a:spcPct val="100000"/>
              </a:lnSpc>
            </a:pPr>
            <a:r>
              <a:rPr lang="en-US" sz="1800" dirty="0"/>
              <a:t>S</a:t>
            </a:r>
            <a:r>
              <a:rPr lang="tr-TR" sz="1800" dirty="0"/>
              <a:t>pectator mode</a:t>
            </a:r>
            <a:endParaRPr lang="en-US" sz="1800" dirty="0"/>
          </a:p>
          <a:p>
            <a:pPr marL="0" indent="0">
              <a:lnSpc>
                <a:spcPct val="100000"/>
              </a:lnSpc>
              <a:buNone/>
            </a:pPr>
            <a:r>
              <a:rPr lang="en-US" sz="1800" dirty="0"/>
              <a:t>was also a future requirement. The team could not reach it but implemented something that could count as a first step towards this functionality: Match replay capability</a:t>
            </a:r>
          </a:p>
          <a:p>
            <a:pPr>
              <a:lnSpc>
                <a:spcPct val="100000"/>
              </a:lnSpc>
            </a:pPr>
            <a:r>
              <a:rPr lang="en-US" sz="1800" dirty="0"/>
              <a:t>Tournament system</a:t>
            </a:r>
          </a:p>
          <a:p>
            <a:pPr>
              <a:lnSpc>
                <a:spcPct val="100000"/>
              </a:lnSpc>
            </a:pPr>
            <a:r>
              <a:rPr lang="en-US" sz="1800" dirty="0"/>
              <a:t>M</a:t>
            </a:r>
            <a:r>
              <a:rPr lang="tr-TR" sz="1800" dirty="0"/>
              <a:t>obile-native apps</a:t>
            </a:r>
            <a:endParaRPr lang="en-US" sz="1800" dirty="0"/>
          </a:p>
          <a:p>
            <a:pPr marL="0" indent="0">
              <a:lnSpc>
                <a:spcPct val="100000"/>
              </a:lnSpc>
              <a:buNone/>
            </a:pPr>
            <a:r>
              <a:rPr lang="en-US" sz="1800" dirty="0"/>
              <a:t>were marked as out of scope from the start. Since the team’s knowledge and experience were limited in this field, the time frame was limited, and each platform required its own platform specific language, mobile apps were deemed as not feasible for this project</a:t>
            </a:r>
          </a:p>
          <a:p>
            <a:pPr>
              <a:lnSpc>
                <a:spcPct val="100000"/>
              </a:lnSpc>
            </a:pPr>
            <a:endParaRPr lang="tr-TR" sz="1800" dirty="0"/>
          </a:p>
          <a:p>
            <a:endParaRPr lang="tr-TR" sz="1800" b="1" dirty="0"/>
          </a:p>
        </p:txBody>
      </p:sp>
    </p:spTree>
    <p:extLst>
      <p:ext uri="{BB962C8B-B14F-4D97-AF65-F5344CB8AC3E}">
        <p14:creationId xmlns:p14="http://schemas.microsoft.com/office/powerpoint/2010/main" val="1189145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6A46AB1-5E4D-007C-94A7-C26416AE0DBA}"/>
              </a:ext>
            </a:extLst>
          </p:cNvPr>
          <p:cNvSpPr>
            <a:spLocks noGrp="1"/>
          </p:cNvSpPr>
          <p:nvPr>
            <p:ph type="body" idx="1"/>
          </p:nvPr>
        </p:nvSpPr>
        <p:spPr>
          <a:xfrm>
            <a:off x="838200" y="933450"/>
            <a:ext cx="10515600" cy="5243513"/>
          </a:xfrm>
        </p:spPr>
        <p:txBody>
          <a:bodyPr>
            <a:normAutofit/>
          </a:bodyPr>
          <a:lstStyle/>
          <a:p>
            <a:pPr marL="0" indent="0">
              <a:buNone/>
            </a:pPr>
            <a:r>
              <a:rPr lang="en-US" sz="1800" b="1" dirty="0"/>
              <a:t>Other targets, constraints and assumptions:</a:t>
            </a:r>
          </a:p>
          <a:p>
            <a:r>
              <a:rPr lang="tr-TR" sz="1800" dirty="0"/>
              <a:t>NFR targets: </a:t>
            </a:r>
            <a:endParaRPr lang="en-US" sz="1800" dirty="0"/>
          </a:p>
          <a:p>
            <a:pPr lvl="1"/>
            <a:r>
              <a:rPr lang="en-US" sz="1400" dirty="0"/>
              <a:t>L</a:t>
            </a:r>
            <a:r>
              <a:rPr lang="tr-TR" sz="1400" dirty="0"/>
              <a:t>ogin/</a:t>
            </a:r>
            <a:r>
              <a:rPr lang="en-US" sz="1400" dirty="0"/>
              <a:t>register</a:t>
            </a:r>
            <a:r>
              <a:rPr lang="tr-TR" sz="1400" dirty="0"/>
              <a:t> under 2s</a:t>
            </a:r>
            <a:endParaRPr lang="en-US" sz="1400" dirty="0"/>
          </a:p>
          <a:p>
            <a:pPr lvl="1"/>
            <a:r>
              <a:rPr lang="en-US" sz="1400" dirty="0"/>
              <a:t>I</a:t>
            </a:r>
            <a:r>
              <a:rPr lang="tr-TR" sz="1400" dirty="0"/>
              <a:t>n-game actions under 200ms</a:t>
            </a:r>
            <a:endParaRPr lang="en-US" sz="1400" dirty="0"/>
          </a:p>
          <a:p>
            <a:pPr lvl="1"/>
            <a:r>
              <a:rPr lang="tr-TR" sz="1400" dirty="0"/>
              <a:t>10+ concurrent players.</a:t>
            </a:r>
          </a:p>
          <a:p>
            <a:r>
              <a:rPr lang="tr-TR" sz="1800" dirty="0"/>
              <a:t>Assumption: </a:t>
            </a:r>
            <a:endParaRPr lang="en-US" sz="1800" dirty="0"/>
          </a:p>
          <a:p>
            <a:pPr lvl="1"/>
            <a:r>
              <a:rPr lang="en-US" sz="1400" dirty="0"/>
              <a:t>S</a:t>
            </a:r>
            <a:r>
              <a:rPr lang="tr-TR" sz="1400" dirty="0"/>
              <a:t>table internet</a:t>
            </a:r>
            <a:r>
              <a:rPr lang="en-US" sz="1400" dirty="0"/>
              <a:t> on both our server and client’s side</a:t>
            </a:r>
          </a:p>
          <a:p>
            <a:pPr lvl="1"/>
            <a:r>
              <a:rPr lang="en-US" sz="1400" dirty="0"/>
              <a:t>Clients use a modern web browser that support standard technologies, like HTTPS</a:t>
            </a:r>
          </a:p>
          <a:p>
            <a:pPr lvl="1"/>
            <a:r>
              <a:rPr lang="en-US" sz="1400" dirty="0"/>
              <a:t>P</a:t>
            </a:r>
            <a:r>
              <a:rPr lang="tr-TR" sz="1400" dirty="0"/>
              <a:t>layers know Battleship rules</a:t>
            </a:r>
            <a:endParaRPr lang="en-US" sz="1400" dirty="0"/>
          </a:p>
          <a:p>
            <a:pPr lvl="1"/>
            <a:r>
              <a:rPr lang="en-US" sz="1400" dirty="0"/>
              <a:t>We know better and we know people to cheat. So, rules enforcement is completely on the server side</a:t>
            </a:r>
            <a:endParaRPr lang="tr-TR" sz="1400" dirty="0"/>
          </a:p>
          <a:p>
            <a:r>
              <a:rPr lang="tr-TR" sz="1800" dirty="0"/>
              <a:t>Deployment: </a:t>
            </a:r>
            <a:endParaRPr lang="en-US" sz="1800" dirty="0"/>
          </a:p>
          <a:p>
            <a:pPr lvl="1"/>
            <a:r>
              <a:rPr lang="en-US" sz="1400" dirty="0"/>
              <a:t>P</a:t>
            </a:r>
            <a:r>
              <a:rPr lang="tr-TR" sz="1400" dirty="0"/>
              <a:t>roduction on Render (HTTPS at edge) </a:t>
            </a:r>
            <a:endParaRPr lang="en-US" sz="1400" dirty="0"/>
          </a:p>
          <a:p>
            <a:pPr lvl="1"/>
            <a:r>
              <a:rPr lang="tr-TR" sz="1400" dirty="0"/>
              <a:t>Docker for local and cloud containers.</a:t>
            </a:r>
          </a:p>
          <a:p>
            <a:endParaRPr lang="tr-TR" sz="1800" dirty="0"/>
          </a:p>
        </p:txBody>
      </p:sp>
    </p:spTree>
    <p:extLst>
      <p:ext uri="{BB962C8B-B14F-4D97-AF65-F5344CB8AC3E}">
        <p14:creationId xmlns:p14="http://schemas.microsoft.com/office/powerpoint/2010/main" val="1330245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D1433A-CB78-953A-E45B-4883F2ADED12}"/>
              </a:ext>
            </a:extLst>
          </p:cNvPr>
          <p:cNvSpPr txBox="1"/>
          <p:nvPr/>
        </p:nvSpPr>
        <p:spPr>
          <a:xfrm>
            <a:off x="1016000" y="2794000"/>
            <a:ext cx="10160000" cy="707886"/>
          </a:xfrm>
          <a:prstGeom prst="rect">
            <a:avLst/>
          </a:prstGeom>
          <a:noFill/>
        </p:spPr>
        <p:txBody>
          <a:bodyPr vert="horz" rtlCol="0">
            <a:spAutoFit/>
          </a:bodyPr>
          <a:lstStyle/>
          <a:p>
            <a:r>
              <a:rPr lang="en-US" sz="4000" b="1" dirty="0">
                <a:solidFill>
                  <a:srgbClr val="00B0F0"/>
                </a:solidFill>
              </a:rPr>
              <a:t>5. Methodology and Technical Approach</a:t>
            </a:r>
            <a:endParaRPr lang="tr-TR" sz="4000" b="1" dirty="0">
              <a:solidFill>
                <a:srgbClr val="00B0F0"/>
              </a:solidFill>
            </a:endParaRPr>
          </a:p>
        </p:txBody>
      </p:sp>
    </p:spTree>
    <p:extLst>
      <p:ext uri="{BB962C8B-B14F-4D97-AF65-F5344CB8AC3E}">
        <p14:creationId xmlns:p14="http://schemas.microsoft.com/office/powerpoint/2010/main" val="37319536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B9C03-CCEA-57D0-8A99-2B5BBC5BA5A8}"/>
              </a:ext>
            </a:extLst>
          </p:cNvPr>
          <p:cNvSpPr>
            <a:spLocks noGrp="1"/>
          </p:cNvSpPr>
          <p:nvPr>
            <p:ph type="title"/>
          </p:nvPr>
        </p:nvSpPr>
        <p:spPr/>
        <p:txBody>
          <a:bodyPr/>
          <a:lstStyle/>
          <a:p>
            <a:r>
              <a:rPr lang="tr-TR" dirty="0"/>
              <a:t>Architecture</a:t>
            </a:r>
            <a:r>
              <a:rPr lang="en-US" dirty="0"/>
              <a:t> and Technology Stack</a:t>
            </a:r>
            <a:endParaRPr lang="tr-TR" dirty="0"/>
          </a:p>
        </p:txBody>
      </p:sp>
      <p:sp>
        <p:nvSpPr>
          <p:cNvPr id="3" name="Text Placeholder 2">
            <a:extLst>
              <a:ext uri="{FF2B5EF4-FFF2-40B4-BE49-F238E27FC236}">
                <a16:creationId xmlns:a16="http://schemas.microsoft.com/office/drawing/2014/main" id="{5EB75F0E-99F4-4659-028D-312465527202}"/>
              </a:ext>
            </a:extLst>
          </p:cNvPr>
          <p:cNvSpPr>
            <a:spLocks noGrp="1"/>
          </p:cNvSpPr>
          <p:nvPr>
            <p:ph type="body" idx="1"/>
          </p:nvPr>
        </p:nvSpPr>
        <p:spPr>
          <a:xfrm>
            <a:off x="838200" y="1825625"/>
            <a:ext cx="8726424" cy="4351338"/>
          </a:xfrm>
        </p:spPr>
        <p:txBody>
          <a:bodyPr>
            <a:normAutofit fontScale="85000" lnSpcReduction="20000"/>
          </a:bodyPr>
          <a:lstStyle/>
          <a:p>
            <a:pPr marL="0" indent="0">
              <a:lnSpc>
                <a:spcPct val="100000"/>
              </a:lnSpc>
              <a:buNone/>
            </a:pPr>
            <a:r>
              <a:rPr lang="en-US" sz="1800" dirty="0"/>
              <a:t>A Client-Server style system architecture is used to ensure the system met the requirements</a:t>
            </a:r>
          </a:p>
          <a:p>
            <a:pPr>
              <a:lnSpc>
                <a:spcPct val="100000"/>
              </a:lnSpc>
            </a:pPr>
            <a:r>
              <a:rPr lang="tr-TR" sz="1800" dirty="0"/>
              <a:t>Client</a:t>
            </a:r>
            <a:r>
              <a:rPr lang="en-US" sz="1800" dirty="0"/>
              <a:t> / Frontend</a:t>
            </a:r>
            <a:r>
              <a:rPr lang="tr-TR" sz="1800" dirty="0"/>
              <a:t>: Blazor Server (browser UI, server-side rendering)</a:t>
            </a:r>
          </a:p>
          <a:p>
            <a:pPr>
              <a:lnSpc>
                <a:spcPct val="100000"/>
              </a:lnSpc>
            </a:pPr>
            <a:r>
              <a:rPr lang="tr-TR" sz="1800" dirty="0"/>
              <a:t>Server</a:t>
            </a:r>
            <a:r>
              <a:rPr lang="en-US" sz="1800" dirty="0"/>
              <a:t> / Backend</a:t>
            </a:r>
            <a:r>
              <a:rPr lang="tr-TR" sz="1800" dirty="0"/>
              <a:t>: ASP.NET Core .NET 10 </a:t>
            </a:r>
            <a:endParaRPr lang="en-US" sz="1800" dirty="0"/>
          </a:p>
          <a:p>
            <a:pPr lvl="1">
              <a:lnSpc>
                <a:spcPct val="100000"/>
              </a:lnSpc>
            </a:pPr>
            <a:r>
              <a:rPr lang="tr-TR" sz="1400" dirty="0"/>
              <a:t>API, Application, Domain, Infrastructure, Contracts layers</a:t>
            </a:r>
          </a:p>
          <a:p>
            <a:pPr lvl="1">
              <a:lnSpc>
                <a:spcPct val="100000"/>
              </a:lnSpc>
            </a:pPr>
            <a:r>
              <a:rPr lang="en-US" sz="1400" dirty="0"/>
              <a:t>RESTful API:</a:t>
            </a:r>
            <a:r>
              <a:rPr lang="tr-TR" sz="1400" dirty="0"/>
              <a:t> </a:t>
            </a:r>
            <a:r>
              <a:rPr lang="en-US" sz="1400" dirty="0"/>
              <a:t>C</a:t>
            </a:r>
            <a:r>
              <a:rPr lang="tr-TR" sz="1400" dirty="0"/>
              <a:t>ontrollers for auth, users, ships, matches, admin, leaderboard, replay</a:t>
            </a:r>
            <a:endParaRPr lang="en-US" sz="1400" dirty="0"/>
          </a:p>
          <a:p>
            <a:pPr lvl="1">
              <a:lnSpc>
                <a:spcPct val="100000"/>
              </a:lnSpc>
            </a:pPr>
            <a:r>
              <a:rPr lang="tr-TR" sz="1400" dirty="0"/>
              <a:t>Security: JWT access</a:t>
            </a:r>
            <a:r>
              <a:rPr lang="en-US" sz="1400" dirty="0"/>
              <a:t> and base64 </a:t>
            </a:r>
            <a:r>
              <a:rPr lang="tr-TR" sz="1400" dirty="0"/>
              <a:t>refresh tokens</a:t>
            </a:r>
            <a:r>
              <a:rPr lang="en-US" sz="1400" dirty="0"/>
              <a:t>.</a:t>
            </a:r>
            <a:r>
              <a:rPr lang="tr-TR" sz="1400" dirty="0"/>
              <a:t> HttpOnly cookies on Web</a:t>
            </a:r>
            <a:r>
              <a:rPr lang="en-US" sz="1400" dirty="0"/>
              <a:t>.</a:t>
            </a:r>
            <a:r>
              <a:rPr lang="tr-TR" sz="1400" dirty="0"/>
              <a:t> CORS for production origins.</a:t>
            </a:r>
            <a:r>
              <a:rPr lang="en-US" sz="1400" dirty="0"/>
              <a:t> BCrypt for securely hashed and saved passwords </a:t>
            </a:r>
            <a:endParaRPr lang="tr-TR" sz="1400" dirty="0"/>
          </a:p>
          <a:p>
            <a:pPr lvl="1">
              <a:lnSpc>
                <a:spcPct val="100000"/>
              </a:lnSpc>
            </a:pPr>
            <a:r>
              <a:rPr lang="tr-TR" sz="1400" dirty="0"/>
              <a:t>SignalR: </a:t>
            </a:r>
            <a:r>
              <a:rPr lang="en-US" sz="1400" dirty="0"/>
              <a:t>Real-time communication between server and client. </a:t>
            </a:r>
            <a:r>
              <a:rPr lang="tr-TR" sz="1400" dirty="0"/>
              <a:t>QueueHub (/queue) for matchmaking; GameHub (/game/{matchId}) for </a:t>
            </a:r>
            <a:r>
              <a:rPr lang="en-US" sz="1400" dirty="0"/>
              <a:t>real-time</a:t>
            </a:r>
            <a:r>
              <a:rPr lang="tr-TR" sz="1400" dirty="0"/>
              <a:t> play</a:t>
            </a:r>
          </a:p>
          <a:p>
            <a:pPr>
              <a:lnSpc>
                <a:spcPct val="100000"/>
              </a:lnSpc>
            </a:pPr>
            <a:r>
              <a:rPr lang="tr-TR" sz="1800" dirty="0"/>
              <a:t>Data:</a:t>
            </a:r>
            <a:endParaRPr lang="en-US" sz="1800" dirty="0"/>
          </a:p>
          <a:p>
            <a:pPr lvl="1">
              <a:lnSpc>
                <a:spcPct val="100000"/>
              </a:lnSpc>
            </a:pPr>
            <a:r>
              <a:rPr lang="tr-TR" sz="1400" dirty="0"/>
              <a:t>PostgreSQL 18</a:t>
            </a:r>
            <a:r>
              <a:rPr lang="en-US" sz="1400" dirty="0"/>
              <a:t> database</a:t>
            </a:r>
          </a:p>
          <a:p>
            <a:pPr lvl="1">
              <a:lnSpc>
                <a:spcPct val="100000"/>
              </a:lnSpc>
            </a:pPr>
            <a:r>
              <a:rPr lang="tr-TR" sz="1400" dirty="0"/>
              <a:t>Entity Framework Core</a:t>
            </a:r>
            <a:r>
              <a:rPr lang="en-US" sz="1400" dirty="0"/>
              <a:t> as ORM</a:t>
            </a:r>
          </a:p>
          <a:p>
            <a:pPr>
              <a:lnSpc>
                <a:spcPct val="100000"/>
              </a:lnSpc>
            </a:pPr>
            <a:r>
              <a:rPr lang="en-US" sz="1800" dirty="0"/>
              <a:t>Testing: xUnit, SwaggerUI, in-house console app</a:t>
            </a:r>
          </a:p>
          <a:p>
            <a:pPr>
              <a:lnSpc>
                <a:spcPct val="100000"/>
              </a:lnSpc>
            </a:pPr>
            <a:r>
              <a:rPr lang="en-US" sz="1800" dirty="0"/>
              <a:t>Deployment</a:t>
            </a:r>
          </a:p>
          <a:p>
            <a:pPr lvl="1">
              <a:lnSpc>
                <a:spcPct val="100000"/>
              </a:lnSpc>
            </a:pPr>
            <a:r>
              <a:rPr lang="en-US" sz="1400" dirty="0"/>
              <a:t>Docker</a:t>
            </a:r>
          </a:p>
          <a:p>
            <a:pPr lvl="1">
              <a:lnSpc>
                <a:spcPct val="100000"/>
              </a:lnSpc>
            </a:pPr>
            <a:r>
              <a:rPr lang="en-US" sz="1400" dirty="0"/>
              <a:t>Render</a:t>
            </a:r>
          </a:p>
          <a:p>
            <a:pPr>
              <a:lnSpc>
                <a:spcPct val="100000"/>
              </a:lnSpc>
            </a:pPr>
            <a:endParaRPr lang="en-US" sz="1800" dirty="0"/>
          </a:p>
        </p:txBody>
      </p:sp>
    </p:spTree>
    <p:extLst>
      <p:ext uri="{BB962C8B-B14F-4D97-AF65-F5344CB8AC3E}">
        <p14:creationId xmlns:p14="http://schemas.microsoft.com/office/powerpoint/2010/main" val="28167087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3C65A9FF-1CEA-5BD6-D0EB-8E2D5308F561}"/>
              </a:ext>
            </a:extLst>
          </p:cNvPr>
          <p:cNvSpPr txBox="1">
            <a:spLocks/>
          </p:cNvSpPr>
          <p:nvPr/>
        </p:nvSpPr>
        <p:spPr>
          <a:xfrm>
            <a:off x="838200" y="1825625"/>
            <a:ext cx="10515600" cy="4351338"/>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1800" dirty="0"/>
              <a:t>Agile like iterative development approach </a:t>
            </a:r>
            <a:r>
              <a:rPr lang="tr-TR" sz="1800" dirty="0"/>
              <a:t>with informal 2-week sprints: </a:t>
            </a:r>
            <a:r>
              <a:rPr lang="en-US" sz="1800" dirty="0"/>
              <a:t>Features implemented incrementally. I</a:t>
            </a:r>
            <a:r>
              <a:rPr lang="tr-TR" sz="1800" dirty="0"/>
              <a:t>mplement, then test/validate.</a:t>
            </a:r>
            <a:r>
              <a:rPr lang="en-US" sz="1800" dirty="0"/>
              <a:t> Order:</a:t>
            </a:r>
            <a:endParaRPr lang="en-US" sz="1400" dirty="0"/>
          </a:p>
          <a:p>
            <a:pPr lvl="1">
              <a:lnSpc>
                <a:spcPct val="100000"/>
              </a:lnSpc>
            </a:pPr>
            <a:r>
              <a:rPr lang="en-US" sz="1400" dirty="0"/>
              <a:t>D</a:t>
            </a:r>
            <a:r>
              <a:rPr lang="tr-TR" sz="1400" dirty="0"/>
              <a:t>atabase</a:t>
            </a:r>
            <a:endParaRPr lang="en-US" sz="1400" dirty="0"/>
          </a:p>
          <a:p>
            <a:pPr lvl="1">
              <a:lnSpc>
                <a:spcPct val="100000"/>
              </a:lnSpc>
            </a:pPr>
            <a:r>
              <a:rPr lang="en-US" sz="1400" dirty="0"/>
              <a:t>B</a:t>
            </a:r>
            <a:r>
              <a:rPr lang="tr-TR" sz="1400" dirty="0"/>
              <a:t>ackend services</a:t>
            </a:r>
            <a:r>
              <a:rPr lang="en-US" sz="1400" dirty="0"/>
              <a:t> and domain game logic</a:t>
            </a:r>
          </a:p>
          <a:p>
            <a:pPr lvl="1">
              <a:lnSpc>
                <a:spcPct val="100000"/>
              </a:lnSpc>
            </a:pPr>
            <a:r>
              <a:rPr lang="tr-TR" sz="1400" dirty="0"/>
              <a:t>SignalR hubs</a:t>
            </a:r>
            <a:endParaRPr lang="en-US" sz="1400" dirty="0"/>
          </a:p>
          <a:p>
            <a:pPr lvl="1">
              <a:lnSpc>
                <a:spcPct val="100000"/>
              </a:lnSpc>
            </a:pPr>
            <a:r>
              <a:rPr lang="tr-TR" sz="1400" dirty="0"/>
              <a:t>Blazor frontend</a:t>
            </a:r>
            <a:endParaRPr lang="en-US" sz="1400" dirty="0"/>
          </a:p>
          <a:p>
            <a:pPr lvl="1">
              <a:lnSpc>
                <a:spcPct val="100000"/>
              </a:lnSpc>
            </a:pPr>
            <a:r>
              <a:rPr lang="en-US" sz="1400" dirty="0"/>
              <a:t>E</a:t>
            </a:r>
            <a:r>
              <a:rPr lang="tr-TR" sz="1400" dirty="0"/>
              <a:t>xtras.</a:t>
            </a:r>
          </a:p>
          <a:p>
            <a:pPr>
              <a:lnSpc>
                <a:spcPct val="100000"/>
              </a:lnSpc>
            </a:pPr>
            <a:r>
              <a:rPr lang="en-US" sz="1800" dirty="0"/>
              <a:t>Continuous testing development</a:t>
            </a:r>
          </a:p>
          <a:p>
            <a:pPr lvl="1">
              <a:lnSpc>
                <a:spcPct val="100000"/>
              </a:lnSpc>
            </a:pPr>
            <a:r>
              <a:rPr lang="en-US" sz="1400" dirty="0"/>
              <a:t>Unit tests and manual testing performed throughout the project</a:t>
            </a:r>
          </a:p>
          <a:p>
            <a:pPr lvl="1">
              <a:lnSpc>
                <a:spcPct val="100000"/>
              </a:lnSpc>
            </a:pPr>
            <a:r>
              <a:rPr lang="en-US" sz="1400" dirty="0"/>
              <a:t>API</a:t>
            </a:r>
            <a:r>
              <a:rPr lang="tr-TR" sz="1400" dirty="0"/>
              <a:t> tested via Swagger and integration tests</a:t>
            </a:r>
            <a:endParaRPr lang="en-US" sz="1400" dirty="0"/>
          </a:p>
          <a:p>
            <a:pPr lvl="1">
              <a:lnSpc>
                <a:spcPct val="100000"/>
              </a:lnSpc>
            </a:pPr>
            <a:r>
              <a:rPr lang="en-US" sz="1400" dirty="0"/>
              <a:t>Game logic tested independently with xUnit and console app</a:t>
            </a:r>
            <a:endParaRPr lang="tr-TR" sz="1400" dirty="0"/>
          </a:p>
          <a:p>
            <a:pPr>
              <a:lnSpc>
                <a:spcPct val="100000"/>
              </a:lnSpc>
            </a:pPr>
            <a:r>
              <a:rPr lang="en-US" sz="1800" dirty="0"/>
              <a:t>Git and GitHub used for version control</a:t>
            </a:r>
          </a:p>
          <a:p>
            <a:pPr>
              <a:lnSpc>
                <a:spcPct val="100000"/>
              </a:lnSpc>
            </a:pPr>
            <a:r>
              <a:rPr lang="en-US" sz="1800" dirty="0"/>
              <a:t>Key algorithms</a:t>
            </a:r>
          </a:p>
          <a:p>
            <a:pPr lvl="1">
              <a:lnSpc>
                <a:spcPct val="100000"/>
              </a:lnSpc>
            </a:pPr>
            <a:r>
              <a:rPr lang="tr-TR" sz="1400" dirty="0"/>
              <a:t>MatchmakingCoordinator</a:t>
            </a:r>
            <a:r>
              <a:rPr lang="en-US" sz="1400" dirty="0"/>
              <a:t>: Finds suitable opponents based on player’s ranking and elapsed time in queue</a:t>
            </a:r>
          </a:p>
          <a:p>
            <a:pPr lvl="1">
              <a:lnSpc>
                <a:spcPct val="100000"/>
              </a:lnSpc>
            </a:pPr>
            <a:r>
              <a:rPr lang="en-US" sz="1400" dirty="0"/>
              <a:t>Ranking change after a game: Based on the ranking difference between opponents</a:t>
            </a:r>
          </a:p>
        </p:txBody>
      </p:sp>
      <p:sp>
        <p:nvSpPr>
          <p:cNvPr id="6" name="Title 1">
            <a:extLst>
              <a:ext uri="{FF2B5EF4-FFF2-40B4-BE49-F238E27FC236}">
                <a16:creationId xmlns:a16="http://schemas.microsoft.com/office/drawing/2014/main" id="{E44384C8-145C-8989-B03C-89671980B3A8}"/>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US"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Development</a:t>
            </a:r>
            <a:r>
              <a:rPr lang="en-US" sz="4000" dirty="0">
                <a:effectLst>
                  <a:outerShdw blurRad="38100" dist="38100" dir="2700000" algn="tl">
                    <a:srgbClr val="000000">
                      <a:alpha val="43137"/>
                    </a:srgbClr>
                  </a:outerShdw>
                </a:effectLst>
              </a:rPr>
              <a:t> </a:t>
            </a:r>
            <a:r>
              <a:rPr lang="en-US"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Methodology</a:t>
            </a:r>
            <a:endParaRPr lang="tr-TR" sz="4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p:txBody>
      </p:sp>
    </p:spTree>
    <p:extLst>
      <p:ext uri="{BB962C8B-B14F-4D97-AF65-F5344CB8AC3E}">
        <p14:creationId xmlns:p14="http://schemas.microsoft.com/office/powerpoint/2010/main" val="23871132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7F40092-0A19-41B0-60DF-2BDBBC97F2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5054" y="1690688"/>
            <a:ext cx="9921892" cy="4341125"/>
          </a:xfrm>
          <a:prstGeom prst="rect">
            <a:avLst/>
          </a:prstGeom>
        </p:spPr>
      </p:pic>
      <p:sp>
        <p:nvSpPr>
          <p:cNvPr id="7" name="Title 1">
            <a:extLst>
              <a:ext uri="{FF2B5EF4-FFF2-40B4-BE49-F238E27FC236}">
                <a16:creationId xmlns:a16="http://schemas.microsoft.com/office/drawing/2014/main" id="{9B2D1178-88D3-0272-9632-7181782C3468}"/>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dirty="0"/>
              <a:t>Database Structure</a:t>
            </a:r>
            <a:endParaRPr lang="tr-TR" dirty="0"/>
          </a:p>
        </p:txBody>
      </p:sp>
    </p:spTree>
    <p:extLst>
      <p:ext uri="{BB962C8B-B14F-4D97-AF65-F5344CB8AC3E}">
        <p14:creationId xmlns:p14="http://schemas.microsoft.com/office/powerpoint/2010/main" val="32701073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17249-89EF-9583-E070-A8681C90A4E8}"/>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dirty="0"/>
              <a:t>System Architecture</a:t>
            </a:r>
            <a:endParaRPr lang="tr-TR" dirty="0"/>
          </a:p>
        </p:txBody>
      </p:sp>
      <p:pic>
        <p:nvPicPr>
          <p:cNvPr id="6" name="Picture 5">
            <a:extLst>
              <a:ext uri="{FF2B5EF4-FFF2-40B4-BE49-F238E27FC236}">
                <a16:creationId xmlns:a16="http://schemas.microsoft.com/office/drawing/2014/main" id="{2C2170B5-B6C5-EFDA-13AD-6AE0A2075162}"/>
              </a:ext>
            </a:extLst>
          </p:cNvPr>
          <p:cNvPicPr>
            <a:picLocks noChangeAspect="1"/>
          </p:cNvPicPr>
          <p:nvPr/>
        </p:nvPicPr>
        <p:blipFill>
          <a:blip r:embed="rId2"/>
          <a:stretch>
            <a:fillRect/>
          </a:stretch>
        </p:blipFill>
        <p:spPr>
          <a:xfrm>
            <a:off x="7743321" y="1971674"/>
            <a:ext cx="3610479" cy="4224967"/>
          </a:xfrm>
          <a:prstGeom prst="rect">
            <a:avLst/>
          </a:prstGeom>
        </p:spPr>
      </p:pic>
      <p:sp>
        <p:nvSpPr>
          <p:cNvPr id="10" name="Text Placeholder 2">
            <a:extLst>
              <a:ext uri="{FF2B5EF4-FFF2-40B4-BE49-F238E27FC236}">
                <a16:creationId xmlns:a16="http://schemas.microsoft.com/office/drawing/2014/main" id="{CB58F42D-7B15-3C58-9602-7BB7536993BA}"/>
              </a:ext>
            </a:extLst>
          </p:cNvPr>
          <p:cNvSpPr txBox="1">
            <a:spLocks/>
          </p:cNvSpPr>
          <p:nvPr/>
        </p:nvSpPr>
        <p:spPr>
          <a:xfrm>
            <a:off x="838200" y="1690688"/>
            <a:ext cx="10515600" cy="280987"/>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tr-TR" sz="1400" dirty="0">
                <a:ea typeface="+mn-lt"/>
                <a:cs typeface="+mn-lt"/>
              </a:rPr>
              <a:t>BattleGrid follows a layered architecture consisting of API, Application, Domain, Infrastructure, Contracts, and Presentation layers.</a:t>
            </a:r>
          </a:p>
        </p:txBody>
      </p:sp>
      <p:pic>
        <p:nvPicPr>
          <p:cNvPr id="12" name="Picture 11">
            <a:extLst>
              <a:ext uri="{FF2B5EF4-FFF2-40B4-BE49-F238E27FC236}">
                <a16:creationId xmlns:a16="http://schemas.microsoft.com/office/drawing/2014/main" id="{74068DB2-7CAA-8A22-7829-05A201DC01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199" y="1971673"/>
            <a:ext cx="6343651" cy="4224967"/>
          </a:xfrm>
          <a:prstGeom prst="rect">
            <a:avLst/>
          </a:prstGeom>
        </p:spPr>
      </p:pic>
    </p:spTree>
    <p:extLst>
      <p:ext uri="{BB962C8B-B14F-4D97-AF65-F5344CB8AC3E}">
        <p14:creationId xmlns:p14="http://schemas.microsoft.com/office/powerpoint/2010/main" val="37840410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9C1E856-F937-0F4A-C68E-9D206433AD68}"/>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dirty="0"/>
              <a:t>System Architecture</a:t>
            </a:r>
            <a:endParaRPr lang="tr-TR" dirty="0"/>
          </a:p>
        </p:txBody>
      </p:sp>
      <p:sp>
        <p:nvSpPr>
          <p:cNvPr id="6" name="Text Placeholder 2">
            <a:extLst>
              <a:ext uri="{FF2B5EF4-FFF2-40B4-BE49-F238E27FC236}">
                <a16:creationId xmlns:a16="http://schemas.microsoft.com/office/drawing/2014/main" id="{D7F138E7-E9E5-B581-9C82-C258693A92EC}"/>
              </a:ext>
            </a:extLst>
          </p:cNvPr>
          <p:cNvSpPr txBox="1">
            <a:spLocks/>
          </p:cNvSpPr>
          <p:nvPr/>
        </p:nvSpPr>
        <p:spPr>
          <a:xfrm>
            <a:off x="838200" y="1690688"/>
            <a:ext cx="10515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1800" dirty="0">
                <a:ea typeface="+mn-lt"/>
                <a:cs typeface="+mn-lt"/>
              </a:rPr>
              <a:t>API → Handles client requests </a:t>
            </a:r>
            <a:endParaRPr lang="tr-TR" sz="1800" dirty="0">
              <a:ea typeface="Calibri"/>
              <a:cs typeface="Calibri"/>
            </a:endParaRPr>
          </a:p>
          <a:p>
            <a:r>
              <a:rPr lang="tr-TR" sz="1800" dirty="0">
                <a:ea typeface="+mn-lt"/>
                <a:cs typeface="+mn-lt"/>
              </a:rPr>
              <a:t>Application → Coordinates business workflows </a:t>
            </a:r>
          </a:p>
          <a:p>
            <a:r>
              <a:rPr lang="tr-TR" sz="1800" dirty="0">
                <a:ea typeface="+mn-lt"/>
                <a:cs typeface="+mn-lt"/>
              </a:rPr>
              <a:t>Domain → Implements game rules </a:t>
            </a:r>
          </a:p>
          <a:p>
            <a:r>
              <a:rPr lang="tr-TR" sz="1800" dirty="0">
                <a:ea typeface="+mn-lt"/>
                <a:cs typeface="+mn-lt"/>
              </a:rPr>
              <a:t>Infrastructure → Database operations </a:t>
            </a:r>
          </a:p>
          <a:p>
            <a:r>
              <a:rPr lang="tr-TR" sz="1800" dirty="0">
                <a:ea typeface="+mn-lt"/>
                <a:cs typeface="+mn-lt"/>
              </a:rPr>
              <a:t>Contracts → DTO definitions </a:t>
            </a:r>
          </a:p>
          <a:p>
            <a:r>
              <a:rPr lang="tr-TR" sz="1800" dirty="0">
                <a:ea typeface="+mn-lt"/>
                <a:cs typeface="+mn-lt"/>
              </a:rPr>
              <a:t>Blazor UI → User interface</a:t>
            </a:r>
          </a:p>
        </p:txBody>
      </p:sp>
    </p:spTree>
    <p:extLst>
      <p:ext uri="{BB962C8B-B14F-4D97-AF65-F5344CB8AC3E}">
        <p14:creationId xmlns:p14="http://schemas.microsoft.com/office/powerpoint/2010/main" val="26193874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12D2B4A-E92E-63C1-0D66-8A431331805C}"/>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dirty="0"/>
              <a:t>Real-Time Multiplayer Communication</a:t>
            </a:r>
            <a:endParaRPr lang="tr-TR" dirty="0"/>
          </a:p>
        </p:txBody>
      </p:sp>
      <p:sp>
        <p:nvSpPr>
          <p:cNvPr id="5" name="Text Placeholder 2">
            <a:extLst>
              <a:ext uri="{FF2B5EF4-FFF2-40B4-BE49-F238E27FC236}">
                <a16:creationId xmlns:a16="http://schemas.microsoft.com/office/drawing/2014/main" id="{105D94F6-D875-F310-182D-FC7BFA86140E}"/>
              </a:ext>
            </a:extLst>
          </p:cNvPr>
          <p:cNvSpPr txBox="1">
            <a:spLocks/>
          </p:cNvSpPr>
          <p:nvPr/>
        </p:nvSpPr>
        <p:spPr>
          <a:xfrm>
            <a:off x="838200" y="1690688"/>
            <a:ext cx="10515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1800" dirty="0">
                <a:ea typeface="+mn-lt"/>
                <a:cs typeface="+mn-lt"/>
              </a:rPr>
              <a:t>SignalR is used for real-time communication</a:t>
            </a:r>
          </a:p>
          <a:p>
            <a:r>
              <a:rPr lang="tr-TR" sz="1800" dirty="0">
                <a:ea typeface="+mn-lt"/>
                <a:cs typeface="+mn-lt"/>
              </a:rPr>
              <a:t>QueueHub manages matchmaking requests</a:t>
            </a:r>
          </a:p>
          <a:p>
            <a:r>
              <a:rPr lang="tr-TR" sz="1800" dirty="0">
                <a:ea typeface="+mn-lt"/>
                <a:cs typeface="+mn-lt"/>
              </a:rPr>
              <a:t>GameHub synchronizes game actions between players </a:t>
            </a:r>
            <a:endParaRPr lang="tr-TR" sz="1800" dirty="0">
              <a:ea typeface="Calibri"/>
              <a:cs typeface="Calibri"/>
            </a:endParaRPr>
          </a:p>
          <a:p>
            <a:r>
              <a:rPr lang="tr-TR" sz="1800" dirty="0">
                <a:ea typeface="+mn-lt"/>
                <a:cs typeface="+mn-lt"/>
              </a:rPr>
              <a:t>Server-side validation ensures fair gameplay</a:t>
            </a:r>
            <a:endParaRPr lang="tr-TR" sz="1800" dirty="0">
              <a:ea typeface="Calibri"/>
              <a:cs typeface="Calibri"/>
            </a:endParaRPr>
          </a:p>
          <a:p>
            <a:pPr marL="0" indent="0">
              <a:buNone/>
            </a:pPr>
            <a:endParaRPr lang="tr-TR" sz="1800" dirty="0">
              <a:ea typeface="+mn-lt"/>
              <a:cs typeface="+mn-lt"/>
            </a:endParaRPr>
          </a:p>
        </p:txBody>
      </p:sp>
    </p:spTree>
    <p:extLst>
      <p:ext uri="{BB962C8B-B14F-4D97-AF65-F5344CB8AC3E}">
        <p14:creationId xmlns:p14="http://schemas.microsoft.com/office/powerpoint/2010/main" val="8743949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2022B9-BB16-8CC8-044E-A82ED112D571}"/>
              </a:ext>
            </a:extLst>
          </p:cNvPr>
          <p:cNvSpPr txBox="1"/>
          <p:nvPr/>
        </p:nvSpPr>
        <p:spPr>
          <a:xfrm>
            <a:off x="1016000" y="2794000"/>
            <a:ext cx="10160000" cy="707886"/>
          </a:xfrm>
          <a:prstGeom prst="rect">
            <a:avLst/>
          </a:prstGeom>
          <a:noFill/>
        </p:spPr>
        <p:txBody>
          <a:bodyPr vert="horz" rtlCol="0">
            <a:spAutoFit/>
          </a:bodyPr>
          <a:lstStyle/>
          <a:p>
            <a:r>
              <a:rPr lang="tr-TR" sz="4000" b="1" dirty="0">
                <a:solidFill>
                  <a:srgbClr val="00B0F0"/>
                </a:solidFill>
              </a:rPr>
              <a:t>6. Tasks Accomplished</a:t>
            </a:r>
          </a:p>
        </p:txBody>
      </p:sp>
    </p:spTree>
    <p:extLst>
      <p:ext uri="{BB962C8B-B14F-4D97-AF65-F5344CB8AC3E}">
        <p14:creationId xmlns:p14="http://schemas.microsoft.com/office/powerpoint/2010/main" val="13565552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544E1-BCDE-47A5-B2BB-AD203BFDB83B}"/>
              </a:ext>
            </a:extLst>
          </p:cNvPr>
          <p:cNvSpPr>
            <a:spLocks noGrp="1"/>
          </p:cNvSpPr>
          <p:nvPr>
            <p:ph type="title"/>
          </p:nvPr>
        </p:nvSpPr>
        <p:spPr/>
        <p:txBody>
          <a:bodyPr/>
          <a:lstStyle/>
          <a:p>
            <a:r>
              <a:rPr lang="tr-TR"/>
              <a:t>Completed deliverables</a:t>
            </a:r>
          </a:p>
        </p:txBody>
      </p:sp>
      <p:sp>
        <p:nvSpPr>
          <p:cNvPr id="3" name="Text Placeholder 2">
            <a:extLst>
              <a:ext uri="{FF2B5EF4-FFF2-40B4-BE49-F238E27FC236}">
                <a16:creationId xmlns:a16="http://schemas.microsoft.com/office/drawing/2014/main" id="{68EE49B8-EE0E-9164-2DA6-284CE728F2E7}"/>
              </a:ext>
            </a:extLst>
          </p:cNvPr>
          <p:cNvSpPr>
            <a:spLocks noGrp="1"/>
          </p:cNvSpPr>
          <p:nvPr>
            <p:ph type="body" idx="1"/>
          </p:nvPr>
        </p:nvSpPr>
        <p:spPr/>
        <p:txBody>
          <a:bodyPr>
            <a:normAutofit/>
          </a:bodyPr>
          <a:lstStyle/>
          <a:p>
            <a:pPr>
              <a:lnSpc>
                <a:spcPct val="110000"/>
              </a:lnSpc>
              <a:buFont typeface="Arial" panose="020B0604020202020204" pitchFamily="34" charset="0"/>
              <a:buAutoNum type="arabicPeriod"/>
            </a:pPr>
            <a:r>
              <a:rPr lang="tr-TR" sz="1800" dirty="0"/>
              <a:t>Requirements: RSD with functional/non-functional requirements and UML use cases.</a:t>
            </a:r>
          </a:p>
          <a:p>
            <a:pPr>
              <a:lnSpc>
                <a:spcPct val="110000"/>
              </a:lnSpc>
              <a:buFont typeface="Arial" panose="020B0604020202020204" pitchFamily="34" charset="0"/>
              <a:buAutoNum type="arabicPeriod"/>
            </a:pPr>
            <a:r>
              <a:rPr lang="tr-TR" sz="1800" dirty="0"/>
              <a:t>Design: DSD with per-component narratives (API, Application, Domain, Infrastructure, Contracts).</a:t>
            </a:r>
          </a:p>
          <a:p>
            <a:pPr>
              <a:lnSpc>
                <a:spcPct val="110000"/>
              </a:lnSpc>
              <a:buFont typeface="Arial" panose="020B0604020202020204" pitchFamily="34" charset="0"/>
              <a:buAutoNum type="arabicPeriod"/>
            </a:pPr>
            <a:r>
              <a:rPr lang="tr-TR" sz="1800" dirty="0"/>
              <a:t>Database: ER/relational diagrams, SQL scripts, Docker/Render PostgreSQL.</a:t>
            </a:r>
          </a:p>
          <a:p>
            <a:pPr>
              <a:lnSpc>
                <a:spcPct val="110000"/>
              </a:lnSpc>
              <a:buFont typeface="Arial" panose="020B0604020202020204" pitchFamily="34" charset="0"/>
              <a:buAutoNum type="arabicPeriod"/>
            </a:pPr>
            <a:r>
              <a:rPr lang="tr-TR" sz="1800" dirty="0"/>
              <a:t>Backend: </a:t>
            </a:r>
            <a:r>
              <a:rPr lang="en-US" sz="1800" dirty="0"/>
              <a:t>A</a:t>
            </a:r>
            <a:r>
              <a:rPr lang="tr-TR" sz="1800" dirty="0"/>
              <a:t>ll planned services, Swagger, JWT, SignalR hubs, background jobs.</a:t>
            </a:r>
          </a:p>
          <a:p>
            <a:pPr>
              <a:lnSpc>
                <a:spcPct val="110000"/>
              </a:lnSpc>
              <a:buFont typeface="Arial" panose="020B0604020202020204" pitchFamily="34" charset="0"/>
              <a:buAutoNum type="arabicPeriod"/>
            </a:pPr>
            <a:r>
              <a:rPr lang="tr-TR" sz="1800" dirty="0"/>
              <a:t>Frontend: </a:t>
            </a:r>
            <a:r>
              <a:rPr lang="en-US" sz="1800" dirty="0"/>
              <a:t>A</a:t>
            </a:r>
            <a:r>
              <a:rPr lang="tr-TR" sz="1800" dirty="0"/>
              <a:t>uth, dashboard, queue, game UI, leaderboard, history, admin, settings, replay.</a:t>
            </a:r>
          </a:p>
          <a:p>
            <a:pPr>
              <a:lnSpc>
                <a:spcPct val="110000"/>
              </a:lnSpc>
              <a:buFont typeface="Arial" panose="020B0604020202020204" pitchFamily="34" charset="0"/>
              <a:buAutoNum type="arabicPeriod"/>
            </a:pPr>
            <a:r>
              <a:rPr lang="tr-TR" sz="1800" dirty="0"/>
              <a:t>Testing: </a:t>
            </a:r>
            <a:r>
              <a:rPr lang="en-US" sz="1800" dirty="0"/>
              <a:t>U</a:t>
            </a:r>
            <a:r>
              <a:rPr lang="tr-TR" sz="1800" dirty="0"/>
              <a:t>nit and integration tests; </a:t>
            </a:r>
            <a:r>
              <a:rPr lang="en-US" sz="1800" dirty="0"/>
              <a:t>console app and Swagger UI for manual/dynamic testing</a:t>
            </a:r>
            <a:r>
              <a:rPr lang="tr-TR" sz="1800" dirty="0"/>
              <a:t>.</a:t>
            </a:r>
          </a:p>
          <a:p>
            <a:pPr>
              <a:lnSpc>
                <a:spcPct val="110000"/>
              </a:lnSpc>
              <a:buFont typeface="Arial" panose="020B0604020202020204" pitchFamily="34" charset="0"/>
              <a:buAutoNum type="arabicPeriod"/>
            </a:pPr>
            <a:r>
              <a:rPr lang="tr-TR" sz="1800" dirty="0"/>
              <a:t>Deployment: Dockerfiles; live production on Render - fully functional.</a:t>
            </a:r>
          </a:p>
        </p:txBody>
      </p:sp>
    </p:spTree>
    <p:extLst>
      <p:ext uri="{BB962C8B-B14F-4D97-AF65-F5344CB8AC3E}">
        <p14:creationId xmlns:p14="http://schemas.microsoft.com/office/powerpoint/2010/main" val="35159998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E0A97-BC67-710F-F27F-A0E167ACB014}"/>
              </a:ext>
            </a:extLst>
          </p:cNvPr>
          <p:cNvSpPr>
            <a:spLocks noGrp="1"/>
          </p:cNvSpPr>
          <p:nvPr>
            <p:ph type="title"/>
          </p:nvPr>
        </p:nvSpPr>
        <p:spPr/>
        <p:txBody>
          <a:bodyPr/>
          <a:lstStyle/>
          <a:p>
            <a:r>
              <a:rPr lang="en-US" dirty="0"/>
              <a:t>Core Functionality Implemented</a:t>
            </a:r>
            <a:endParaRPr lang="tr-TR" dirty="0"/>
          </a:p>
        </p:txBody>
      </p:sp>
      <p:sp>
        <p:nvSpPr>
          <p:cNvPr id="3" name="Text Placeholder 2">
            <a:extLst>
              <a:ext uri="{FF2B5EF4-FFF2-40B4-BE49-F238E27FC236}">
                <a16:creationId xmlns:a16="http://schemas.microsoft.com/office/drawing/2014/main" id="{546CD380-F701-99C3-3C85-2BC1C0250F27}"/>
              </a:ext>
            </a:extLst>
          </p:cNvPr>
          <p:cNvSpPr>
            <a:spLocks noGrp="1"/>
          </p:cNvSpPr>
          <p:nvPr>
            <p:ph type="body" idx="1"/>
          </p:nvPr>
        </p:nvSpPr>
        <p:spPr/>
        <p:txBody>
          <a:bodyPr>
            <a:normAutofit/>
          </a:bodyPr>
          <a:lstStyle/>
          <a:p>
            <a:r>
              <a:rPr lang="en-US" dirty="0"/>
              <a:t>User registration and authentication</a:t>
            </a:r>
          </a:p>
          <a:p>
            <a:r>
              <a:rPr lang="en-US" dirty="0"/>
              <a:t>JWT based authorization</a:t>
            </a:r>
          </a:p>
          <a:p>
            <a:r>
              <a:rPr lang="en-US" dirty="0"/>
              <a:t>Real-time queueing system</a:t>
            </a:r>
          </a:p>
          <a:p>
            <a:r>
              <a:rPr lang="en-US" dirty="0"/>
              <a:t>Real-time multiplayer gameplay</a:t>
            </a:r>
          </a:p>
          <a:p>
            <a:pPr lvl="1"/>
            <a:r>
              <a:rPr lang="en-US" dirty="0"/>
              <a:t>Ship placement validation</a:t>
            </a:r>
          </a:p>
          <a:p>
            <a:pPr lvl="1"/>
            <a:r>
              <a:rPr lang="en-US" dirty="0"/>
              <a:t>Turn-based game management</a:t>
            </a:r>
          </a:p>
          <a:p>
            <a:pPr lvl="1"/>
            <a:r>
              <a:rPr lang="en-US" dirty="0"/>
              <a:t>Server-side rule enforcement</a:t>
            </a:r>
          </a:p>
          <a:p>
            <a:r>
              <a:rPr lang="en-US" dirty="0"/>
              <a:t>Match end detection and result calculation</a:t>
            </a:r>
          </a:p>
          <a:p>
            <a:endParaRPr lang="tr-TR" dirty="0"/>
          </a:p>
        </p:txBody>
      </p:sp>
    </p:spTree>
    <p:extLst>
      <p:ext uri="{BB962C8B-B14F-4D97-AF65-F5344CB8AC3E}">
        <p14:creationId xmlns:p14="http://schemas.microsoft.com/office/powerpoint/2010/main" val="27027687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BE770-2D04-784C-191F-C36FAD272632}"/>
              </a:ext>
            </a:extLst>
          </p:cNvPr>
          <p:cNvSpPr>
            <a:spLocks noGrp="1"/>
          </p:cNvSpPr>
          <p:nvPr>
            <p:ph type="title"/>
          </p:nvPr>
        </p:nvSpPr>
        <p:spPr/>
        <p:txBody>
          <a:bodyPr/>
          <a:lstStyle/>
          <a:p>
            <a:r>
              <a:rPr lang="en-US" dirty="0"/>
              <a:t>Additional Features Implemented</a:t>
            </a:r>
            <a:endParaRPr lang="tr-TR" dirty="0"/>
          </a:p>
        </p:txBody>
      </p:sp>
      <p:sp>
        <p:nvSpPr>
          <p:cNvPr id="3" name="Text Placeholder 2">
            <a:extLst>
              <a:ext uri="{FF2B5EF4-FFF2-40B4-BE49-F238E27FC236}">
                <a16:creationId xmlns:a16="http://schemas.microsoft.com/office/drawing/2014/main" id="{47B39A25-324E-8A0D-CF2F-401A68F7BB4C}"/>
              </a:ext>
            </a:extLst>
          </p:cNvPr>
          <p:cNvSpPr>
            <a:spLocks noGrp="1"/>
          </p:cNvSpPr>
          <p:nvPr>
            <p:ph type="body" idx="1"/>
          </p:nvPr>
        </p:nvSpPr>
        <p:spPr/>
        <p:txBody>
          <a:bodyPr/>
          <a:lstStyle/>
          <a:p>
            <a:r>
              <a:rPr lang="en-US" dirty="0"/>
              <a:t>Ranking system</a:t>
            </a:r>
          </a:p>
          <a:p>
            <a:r>
              <a:rPr lang="en-US" dirty="0"/>
              <a:t>Leaderboard</a:t>
            </a:r>
          </a:p>
          <a:p>
            <a:r>
              <a:rPr lang="en-US" dirty="0"/>
              <a:t>Match history</a:t>
            </a:r>
          </a:p>
          <a:p>
            <a:r>
              <a:rPr lang="en-US" dirty="0"/>
              <a:t>Administrative controls</a:t>
            </a:r>
          </a:p>
          <a:p>
            <a:r>
              <a:rPr lang="en-US" dirty="0"/>
              <a:t>User settings</a:t>
            </a:r>
          </a:p>
          <a:p>
            <a:r>
              <a:rPr lang="en-US" dirty="0"/>
              <a:t>Match replay functionality</a:t>
            </a:r>
            <a:endParaRPr lang="tr-TR" dirty="0"/>
          </a:p>
        </p:txBody>
      </p:sp>
    </p:spTree>
    <p:extLst>
      <p:ext uri="{BB962C8B-B14F-4D97-AF65-F5344CB8AC3E}">
        <p14:creationId xmlns:p14="http://schemas.microsoft.com/office/powerpoint/2010/main" val="19615393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AFE82-D417-92DB-9E65-C3FCED9F0F81}"/>
              </a:ext>
            </a:extLst>
          </p:cNvPr>
          <p:cNvSpPr>
            <a:spLocks noGrp="1"/>
          </p:cNvSpPr>
          <p:nvPr>
            <p:ph type="title"/>
          </p:nvPr>
        </p:nvSpPr>
        <p:spPr/>
        <p:txBody>
          <a:bodyPr/>
          <a:lstStyle/>
          <a:p>
            <a:r>
              <a:rPr lang="en-US" dirty="0"/>
              <a:t>Infrastructure &amp; Deployment</a:t>
            </a:r>
            <a:endParaRPr lang="tr-TR" dirty="0"/>
          </a:p>
        </p:txBody>
      </p:sp>
      <p:sp>
        <p:nvSpPr>
          <p:cNvPr id="3" name="Text Placeholder 2">
            <a:extLst>
              <a:ext uri="{FF2B5EF4-FFF2-40B4-BE49-F238E27FC236}">
                <a16:creationId xmlns:a16="http://schemas.microsoft.com/office/drawing/2014/main" id="{B1318C97-50EE-E2FA-804C-1301282EC180}"/>
              </a:ext>
            </a:extLst>
          </p:cNvPr>
          <p:cNvSpPr>
            <a:spLocks noGrp="1"/>
          </p:cNvSpPr>
          <p:nvPr>
            <p:ph type="body" idx="1"/>
          </p:nvPr>
        </p:nvSpPr>
        <p:spPr/>
        <p:txBody>
          <a:bodyPr/>
          <a:lstStyle/>
          <a:p>
            <a:r>
              <a:rPr lang="en-US" dirty="0"/>
              <a:t>PostgreSQL database integration</a:t>
            </a:r>
          </a:p>
          <a:p>
            <a:r>
              <a:rPr lang="en-US" dirty="0"/>
              <a:t>Docker-based development environment</a:t>
            </a:r>
          </a:p>
          <a:p>
            <a:r>
              <a:rPr lang="en-US" dirty="0"/>
              <a:t>RESTful API controlled data operations</a:t>
            </a:r>
          </a:p>
          <a:p>
            <a:r>
              <a:rPr lang="en-US" dirty="0"/>
              <a:t>SignalR real-time communication</a:t>
            </a:r>
          </a:p>
          <a:p>
            <a:r>
              <a:rPr lang="en-US" dirty="0"/>
              <a:t>Render deployment production environment</a:t>
            </a:r>
          </a:p>
          <a:p>
            <a:r>
              <a:rPr lang="en-US" dirty="0"/>
              <a:t>Automated unit and integration testing</a:t>
            </a:r>
            <a:endParaRPr lang="tr-TR" dirty="0"/>
          </a:p>
        </p:txBody>
      </p:sp>
    </p:spTree>
    <p:extLst>
      <p:ext uri="{BB962C8B-B14F-4D97-AF65-F5344CB8AC3E}">
        <p14:creationId xmlns:p14="http://schemas.microsoft.com/office/powerpoint/2010/main" val="10955526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EDC6CF-5DD0-F11B-5F69-C24547A5B7BE}"/>
              </a:ext>
            </a:extLst>
          </p:cNvPr>
          <p:cNvSpPr txBox="1"/>
          <p:nvPr/>
        </p:nvSpPr>
        <p:spPr>
          <a:xfrm>
            <a:off x="1016000" y="2794000"/>
            <a:ext cx="10160000" cy="707886"/>
          </a:xfrm>
          <a:prstGeom prst="rect">
            <a:avLst/>
          </a:prstGeom>
          <a:noFill/>
        </p:spPr>
        <p:txBody>
          <a:bodyPr vert="horz" rtlCol="0">
            <a:spAutoFit/>
          </a:bodyPr>
          <a:lstStyle/>
          <a:p>
            <a:r>
              <a:rPr lang="tr-TR" sz="4000" b="1" dirty="0">
                <a:solidFill>
                  <a:srgbClr val="00B0F0"/>
                </a:solidFill>
              </a:rPr>
              <a:t>7. Implementation and Screenshots</a:t>
            </a:r>
          </a:p>
        </p:txBody>
      </p:sp>
    </p:spTree>
    <p:extLst>
      <p:ext uri="{BB962C8B-B14F-4D97-AF65-F5344CB8AC3E}">
        <p14:creationId xmlns:p14="http://schemas.microsoft.com/office/powerpoint/2010/main" val="195676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E651B6-8A36-7156-6190-C73B5131BF24}"/>
              </a:ext>
            </a:extLst>
          </p:cNvPr>
          <p:cNvSpPr txBox="1"/>
          <p:nvPr/>
        </p:nvSpPr>
        <p:spPr>
          <a:xfrm>
            <a:off x="508000" y="381000"/>
            <a:ext cx="11176000" cy="369332"/>
          </a:xfrm>
          <a:prstGeom prst="rect">
            <a:avLst/>
          </a:prstGeom>
          <a:noFill/>
        </p:spPr>
        <p:txBody>
          <a:bodyPr vert="horz" rtlCol="0">
            <a:spAutoFit/>
          </a:bodyPr>
          <a:lstStyle/>
          <a:p>
            <a:r>
              <a:rPr lang="tr-TR" b="1" dirty="0"/>
              <a:t>Home </a:t>
            </a:r>
            <a:r>
              <a:rPr lang="en-US" b="1" dirty="0"/>
              <a:t>and</a:t>
            </a:r>
            <a:r>
              <a:rPr lang="tr-TR" b="1" dirty="0"/>
              <a:t> </a:t>
            </a:r>
            <a:r>
              <a:rPr lang="en-US" b="1" dirty="0"/>
              <a:t>S</a:t>
            </a:r>
            <a:r>
              <a:rPr lang="tr-TR" b="1" dirty="0"/>
              <a:t>ystem </a:t>
            </a:r>
            <a:r>
              <a:rPr lang="en-US" b="1" dirty="0"/>
              <a:t>S</a:t>
            </a:r>
            <a:r>
              <a:rPr lang="tr-TR" b="1" dirty="0"/>
              <a:t>tatus</a:t>
            </a:r>
          </a:p>
        </p:txBody>
      </p:sp>
      <p:sp>
        <p:nvSpPr>
          <p:cNvPr id="3" name="TextBox 2">
            <a:extLst>
              <a:ext uri="{FF2B5EF4-FFF2-40B4-BE49-F238E27FC236}">
                <a16:creationId xmlns:a16="http://schemas.microsoft.com/office/drawing/2014/main" id="{F187D00C-B31C-B66C-208A-0DB255D4F18C}"/>
              </a:ext>
            </a:extLst>
          </p:cNvPr>
          <p:cNvSpPr txBox="1"/>
          <p:nvPr/>
        </p:nvSpPr>
        <p:spPr>
          <a:xfrm>
            <a:off x="508000" y="750332"/>
            <a:ext cx="11176000" cy="369332"/>
          </a:xfrm>
          <a:prstGeom prst="rect">
            <a:avLst/>
          </a:prstGeom>
          <a:noFill/>
        </p:spPr>
        <p:txBody>
          <a:bodyPr vert="horz" rtlCol="0">
            <a:spAutoFit/>
          </a:bodyPr>
          <a:lstStyle/>
          <a:p>
            <a:r>
              <a:rPr lang="en-US" dirty="0"/>
              <a:t>Command center with API health, operator session, and database health checks</a:t>
            </a:r>
            <a:endParaRPr lang="tr-TR" dirty="0"/>
          </a:p>
        </p:txBody>
      </p:sp>
      <p:pic>
        <p:nvPicPr>
          <p:cNvPr id="7" name="Picture 6">
            <a:extLst>
              <a:ext uri="{FF2B5EF4-FFF2-40B4-BE49-F238E27FC236}">
                <a16:creationId xmlns:a16="http://schemas.microsoft.com/office/drawing/2014/main" id="{0955BED8-96D2-5103-6481-7F1276421B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000" y="1257399"/>
            <a:ext cx="11178000" cy="5219601"/>
          </a:xfrm>
          <a:prstGeom prst="rect">
            <a:avLst/>
          </a:prstGeom>
        </p:spPr>
      </p:pic>
    </p:spTree>
    <p:extLst>
      <p:ext uri="{BB962C8B-B14F-4D97-AF65-F5344CB8AC3E}">
        <p14:creationId xmlns:p14="http://schemas.microsoft.com/office/powerpoint/2010/main" val="25790611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AE15776-C9BD-53F6-A5D5-3DBBF72B46F6}"/>
              </a:ext>
            </a:extLst>
          </p:cNvPr>
          <p:cNvSpPr txBox="1"/>
          <p:nvPr/>
        </p:nvSpPr>
        <p:spPr>
          <a:xfrm>
            <a:off x="508000" y="381000"/>
            <a:ext cx="11176000" cy="369332"/>
          </a:xfrm>
          <a:prstGeom prst="rect">
            <a:avLst/>
          </a:prstGeom>
          <a:noFill/>
        </p:spPr>
        <p:txBody>
          <a:bodyPr vert="horz" rtlCol="0">
            <a:spAutoFit/>
          </a:bodyPr>
          <a:lstStyle/>
          <a:p>
            <a:r>
              <a:rPr lang="tr-TR" b="1" dirty="0"/>
              <a:t>Authentication</a:t>
            </a:r>
            <a:r>
              <a:rPr lang="en-US" b="1" dirty="0"/>
              <a:t> and Authorization</a:t>
            </a:r>
            <a:endParaRPr lang="tr-TR" b="1" dirty="0"/>
          </a:p>
        </p:txBody>
      </p:sp>
      <p:sp>
        <p:nvSpPr>
          <p:cNvPr id="3" name="TextBox 2">
            <a:extLst>
              <a:ext uri="{FF2B5EF4-FFF2-40B4-BE49-F238E27FC236}">
                <a16:creationId xmlns:a16="http://schemas.microsoft.com/office/drawing/2014/main" id="{EB2C2AEE-AFBC-3B6A-D286-B1D393F80353}"/>
              </a:ext>
            </a:extLst>
          </p:cNvPr>
          <p:cNvSpPr txBox="1"/>
          <p:nvPr/>
        </p:nvSpPr>
        <p:spPr>
          <a:xfrm>
            <a:off x="508000" y="750332"/>
            <a:ext cx="11176000" cy="369332"/>
          </a:xfrm>
          <a:prstGeom prst="rect">
            <a:avLst/>
          </a:prstGeom>
          <a:noFill/>
        </p:spPr>
        <p:txBody>
          <a:bodyPr vert="horz" rtlCol="0">
            <a:spAutoFit/>
          </a:bodyPr>
          <a:lstStyle/>
          <a:p>
            <a:r>
              <a:rPr lang="en-US" dirty="0"/>
              <a:t>Register and login; JWT session via secure cookies</a:t>
            </a:r>
            <a:endParaRPr lang="tr-TR" dirty="0"/>
          </a:p>
        </p:txBody>
      </p:sp>
      <p:pic>
        <p:nvPicPr>
          <p:cNvPr id="9" name="Picture 8">
            <a:extLst>
              <a:ext uri="{FF2B5EF4-FFF2-40B4-BE49-F238E27FC236}">
                <a16:creationId xmlns:a16="http://schemas.microsoft.com/office/drawing/2014/main" id="{CCBCB8A2-9178-E944-5AEC-CDF15E8392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000" y="1257000"/>
            <a:ext cx="11176642" cy="5220000"/>
          </a:xfrm>
          <a:prstGeom prst="rect">
            <a:avLst/>
          </a:prstGeom>
        </p:spPr>
      </p:pic>
    </p:spTree>
    <p:extLst>
      <p:ext uri="{BB962C8B-B14F-4D97-AF65-F5344CB8AC3E}">
        <p14:creationId xmlns:p14="http://schemas.microsoft.com/office/powerpoint/2010/main" val="10366006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B77672-65C0-C328-E15F-4090E2491949}"/>
              </a:ext>
            </a:extLst>
          </p:cNvPr>
          <p:cNvSpPr txBox="1"/>
          <p:nvPr/>
        </p:nvSpPr>
        <p:spPr>
          <a:xfrm>
            <a:off x="508000" y="381000"/>
            <a:ext cx="11176000" cy="369332"/>
          </a:xfrm>
          <a:prstGeom prst="rect">
            <a:avLst/>
          </a:prstGeom>
          <a:noFill/>
        </p:spPr>
        <p:txBody>
          <a:bodyPr vert="horz" rtlCol="0">
            <a:spAutoFit/>
          </a:bodyPr>
          <a:lstStyle/>
          <a:p>
            <a:r>
              <a:rPr lang="tr-TR" b="1" dirty="0"/>
              <a:t>Dashboar</a:t>
            </a:r>
            <a:r>
              <a:rPr lang="en-US" b="1" dirty="0"/>
              <a:t>d</a:t>
            </a:r>
            <a:endParaRPr lang="tr-TR" b="1" dirty="0"/>
          </a:p>
        </p:txBody>
      </p:sp>
      <p:sp>
        <p:nvSpPr>
          <p:cNvPr id="3" name="TextBox 2">
            <a:extLst>
              <a:ext uri="{FF2B5EF4-FFF2-40B4-BE49-F238E27FC236}">
                <a16:creationId xmlns:a16="http://schemas.microsoft.com/office/drawing/2014/main" id="{44EA5CE2-94C2-82C9-B408-13361B2ECD54}"/>
              </a:ext>
            </a:extLst>
          </p:cNvPr>
          <p:cNvSpPr txBox="1"/>
          <p:nvPr/>
        </p:nvSpPr>
        <p:spPr>
          <a:xfrm>
            <a:off x="508000" y="750332"/>
            <a:ext cx="11176000" cy="369332"/>
          </a:xfrm>
          <a:prstGeom prst="rect">
            <a:avLst/>
          </a:prstGeom>
          <a:noFill/>
        </p:spPr>
        <p:txBody>
          <a:bodyPr vert="horz" rtlCol="0">
            <a:spAutoFit/>
          </a:bodyPr>
          <a:lstStyle/>
          <a:p>
            <a:r>
              <a:rPr lang="en-US" dirty="0"/>
              <a:t>User information, player stats, quick actions</a:t>
            </a:r>
            <a:endParaRPr lang="tr-TR" dirty="0"/>
          </a:p>
        </p:txBody>
      </p:sp>
      <p:pic>
        <p:nvPicPr>
          <p:cNvPr id="9" name="Picture 8">
            <a:extLst>
              <a:ext uri="{FF2B5EF4-FFF2-40B4-BE49-F238E27FC236}">
                <a16:creationId xmlns:a16="http://schemas.microsoft.com/office/drawing/2014/main" id="{07AB3A44-DF3F-209C-5E98-F8A7CA97483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508000" y="1257000"/>
            <a:ext cx="11174400" cy="5220000"/>
          </a:xfrm>
          <a:prstGeom prst="rect">
            <a:avLst/>
          </a:prstGeom>
        </p:spPr>
      </p:pic>
    </p:spTree>
    <p:extLst>
      <p:ext uri="{BB962C8B-B14F-4D97-AF65-F5344CB8AC3E}">
        <p14:creationId xmlns:p14="http://schemas.microsoft.com/office/powerpoint/2010/main" val="18469519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EF66D88-6F6B-A496-AD09-56D3CC62A0A6}"/>
              </a:ext>
            </a:extLst>
          </p:cNvPr>
          <p:cNvSpPr txBox="1"/>
          <p:nvPr/>
        </p:nvSpPr>
        <p:spPr>
          <a:xfrm>
            <a:off x="508000" y="381000"/>
            <a:ext cx="11176000" cy="369332"/>
          </a:xfrm>
          <a:prstGeom prst="rect">
            <a:avLst/>
          </a:prstGeom>
          <a:noFill/>
        </p:spPr>
        <p:txBody>
          <a:bodyPr vert="horz" rtlCol="0">
            <a:spAutoFit/>
          </a:bodyPr>
          <a:lstStyle/>
          <a:p>
            <a:r>
              <a:rPr lang="en-US" b="1" dirty="0"/>
              <a:t>Queue and Timer</a:t>
            </a:r>
            <a:endParaRPr lang="tr-TR" b="1" dirty="0"/>
          </a:p>
        </p:txBody>
      </p:sp>
      <p:sp>
        <p:nvSpPr>
          <p:cNvPr id="3" name="TextBox 2">
            <a:extLst>
              <a:ext uri="{FF2B5EF4-FFF2-40B4-BE49-F238E27FC236}">
                <a16:creationId xmlns:a16="http://schemas.microsoft.com/office/drawing/2014/main" id="{13800731-959A-9A3E-A744-1EADD5C88CC8}"/>
              </a:ext>
            </a:extLst>
          </p:cNvPr>
          <p:cNvSpPr txBox="1"/>
          <p:nvPr/>
        </p:nvSpPr>
        <p:spPr>
          <a:xfrm>
            <a:off x="508000" y="750332"/>
            <a:ext cx="11176000" cy="369332"/>
          </a:xfrm>
          <a:prstGeom prst="rect">
            <a:avLst/>
          </a:prstGeom>
          <a:noFill/>
        </p:spPr>
        <p:txBody>
          <a:bodyPr vert="horz" rtlCol="0">
            <a:spAutoFit/>
          </a:bodyPr>
          <a:lstStyle/>
          <a:p>
            <a:r>
              <a:rPr lang="en-US" dirty="0"/>
              <a:t>Real-time queue and ranking and elapsed time-based matchmaking</a:t>
            </a:r>
            <a:endParaRPr lang="tr-TR" dirty="0"/>
          </a:p>
        </p:txBody>
      </p:sp>
      <p:pic>
        <p:nvPicPr>
          <p:cNvPr id="8" name="Picture 7">
            <a:extLst>
              <a:ext uri="{FF2B5EF4-FFF2-40B4-BE49-F238E27FC236}">
                <a16:creationId xmlns:a16="http://schemas.microsoft.com/office/drawing/2014/main" id="{00CDF25E-6D0E-CDAB-7083-AF1D0ED0DD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000" y="1257000"/>
            <a:ext cx="11176000" cy="5220000"/>
          </a:xfrm>
          <a:prstGeom prst="rect">
            <a:avLst/>
          </a:prstGeom>
        </p:spPr>
      </p:pic>
    </p:spTree>
    <p:extLst>
      <p:ext uri="{BB962C8B-B14F-4D97-AF65-F5344CB8AC3E}">
        <p14:creationId xmlns:p14="http://schemas.microsoft.com/office/powerpoint/2010/main" val="29426784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DD318E-2BBF-8B2B-2B87-DFEB5A5D99BB}"/>
              </a:ext>
            </a:extLst>
          </p:cNvPr>
          <p:cNvSpPr txBox="1"/>
          <p:nvPr/>
        </p:nvSpPr>
        <p:spPr>
          <a:xfrm>
            <a:off x="508000" y="381000"/>
            <a:ext cx="11176000" cy="369332"/>
          </a:xfrm>
          <a:prstGeom prst="rect">
            <a:avLst/>
          </a:prstGeom>
          <a:noFill/>
        </p:spPr>
        <p:txBody>
          <a:bodyPr vert="horz" rtlCol="0">
            <a:spAutoFit/>
          </a:bodyPr>
          <a:lstStyle/>
          <a:p>
            <a:r>
              <a:rPr lang="tr-TR" b="1" dirty="0"/>
              <a:t>Gameplay</a:t>
            </a:r>
            <a:r>
              <a:rPr lang="en-US" b="1" dirty="0"/>
              <a:t> – 1</a:t>
            </a:r>
            <a:endParaRPr lang="tr-TR" b="1" dirty="0"/>
          </a:p>
        </p:txBody>
      </p:sp>
      <p:sp>
        <p:nvSpPr>
          <p:cNvPr id="3" name="TextBox 2">
            <a:extLst>
              <a:ext uri="{FF2B5EF4-FFF2-40B4-BE49-F238E27FC236}">
                <a16:creationId xmlns:a16="http://schemas.microsoft.com/office/drawing/2014/main" id="{F31B261D-B5BB-71B9-5FDD-DC8ED24F66EF}"/>
              </a:ext>
            </a:extLst>
          </p:cNvPr>
          <p:cNvSpPr txBox="1"/>
          <p:nvPr/>
        </p:nvSpPr>
        <p:spPr>
          <a:xfrm>
            <a:off x="508000" y="750332"/>
            <a:ext cx="11176000" cy="369332"/>
          </a:xfrm>
          <a:prstGeom prst="rect">
            <a:avLst/>
          </a:prstGeom>
          <a:noFill/>
        </p:spPr>
        <p:txBody>
          <a:bodyPr vert="horz" rtlCol="0">
            <a:spAutoFit/>
          </a:bodyPr>
          <a:lstStyle/>
          <a:p>
            <a:r>
              <a:rPr lang="en-US" dirty="0"/>
              <a:t>Ship placement</a:t>
            </a:r>
            <a:endParaRPr lang="tr-TR" dirty="0"/>
          </a:p>
        </p:txBody>
      </p:sp>
      <p:pic>
        <p:nvPicPr>
          <p:cNvPr id="7" name="Picture 6">
            <a:extLst>
              <a:ext uri="{FF2B5EF4-FFF2-40B4-BE49-F238E27FC236}">
                <a16:creationId xmlns:a16="http://schemas.microsoft.com/office/drawing/2014/main" id="{79CA9894-C62A-654E-2382-D0BBC96974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000" y="1295400"/>
            <a:ext cx="11176000" cy="5220000"/>
          </a:xfrm>
          <a:prstGeom prst="rect">
            <a:avLst/>
          </a:prstGeom>
        </p:spPr>
      </p:pic>
    </p:spTree>
    <p:extLst>
      <p:ext uri="{BB962C8B-B14F-4D97-AF65-F5344CB8AC3E}">
        <p14:creationId xmlns:p14="http://schemas.microsoft.com/office/powerpoint/2010/main" val="4592416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F7FB2-1A55-B4D4-F314-BA0EBA8FB3A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45265DE-C563-91A1-33B7-4ED0B7F0EC2A}"/>
              </a:ext>
            </a:extLst>
          </p:cNvPr>
          <p:cNvSpPr txBox="1"/>
          <p:nvPr/>
        </p:nvSpPr>
        <p:spPr>
          <a:xfrm>
            <a:off x="508000" y="381000"/>
            <a:ext cx="11176000" cy="369332"/>
          </a:xfrm>
          <a:prstGeom prst="rect">
            <a:avLst/>
          </a:prstGeom>
          <a:noFill/>
        </p:spPr>
        <p:txBody>
          <a:bodyPr vert="horz" rtlCol="0">
            <a:spAutoFit/>
          </a:bodyPr>
          <a:lstStyle/>
          <a:p>
            <a:r>
              <a:rPr lang="tr-TR" b="1" dirty="0"/>
              <a:t>Gameplay</a:t>
            </a:r>
            <a:r>
              <a:rPr lang="en-US" b="1" dirty="0"/>
              <a:t> – 2</a:t>
            </a:r>
            <a:endParaRPr lang="tr-TR" b="1" dirty="0"/>
          </a:p>
        </p:txBody>
      </p:sp>
      <p:sp>
        <p:nvSpPr>
          <p:cNvPr id="3" name="TextBox 2">
            <a:extLst>
              <a:ext uri="{FF2B5EF4-FFF2-40B4-BE49-F238E27FC236}">
                <a16:creationId xmlns:a16="http://schemas.microsoft.com/office/drawing/2014/main" id="{D9825EFB-6059-7F3A-DC3C-AF53EE6E4C98}"/>
              </a:ext>
            </a:extLst>
          </p:cNvPr>
          <p:cNvSpPr txBox="1"/>
          <p:nvPr/>
        </p:nvSpPr>
        <p:spPr>
          <a:xfrm>
            <a:off x="508000" y="750332"/>
            <a:ext cx="11176000" cy="369332"/>
          </a:xfrm>
          <a:prstGeom prst="rect">
            <a:avLst/>
          </a:prstGeom>
          <a:noFill/>
        </p:spPr>
        <p:txBody>
          <a:bodyPr vert="horz" rtlCol="0">
            <a:spAutoFit/>
          </a:bodyPr>
          <a:lstStyle/>
          <a:p>
            <a:r>
              <a:rPr lang="en-US" dirty="0"/>
              <a:t>Game phase</a:t>
            </a:r>
            <a:endParaRPr lang="tr-TR" dirty="0"/>
          </a:p>
        </p:txBody>
      </p:sp>
      <p:pic>
        <p:nvPicPr>
          <p:cNvPr id="5" name="Picture 4">
            <a:extLst>
              <a:ext uri="{FF2B5EF4-FFF2-40B4-BE49-F238E27FC236}">
                <a16:creationId xmlns:a16="http://schemas.microsoft.com/office/drawing/2014/main" id="{7A160345-A79D-A3E2-3884-6BF36EE003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8812" y="1119664"/>
            <a:ext cx="8334375" cy="5220000"/>
          </a:xfrm>
          <a:prstGeom prst="rect">
            <a:avLst/>
          </a:prstGeom>
        </p:spPr>
      </p:pic>
    </p:spTree>
    <p:extLst>
      <p:ext uri="{BB962C8B-B14F-4D97-AF65-F5344CB8AC3E}">
        <p14:creationId xmlns:p14="http://schemas.microsoft.com/office/powerpoint/2010/main" val="41759409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5EEAB-0425-D431-B772-34FC8B3FF8D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B9EFA09-34EB-517D-4EFE-ACEC0737C4E8}"/>
              </a:ext>
            </a:extLst>
          </p:cNvPr>
          <p:cNvSpPr txBox="1"/>
          <p:nvPr/>
        </p:nvSpPr>
        <p:spPr>
          <a:xfrm>
            <a:off x="508000" y="381000"/>
            <a:ext cx="11176000" cy="369332"/>
          </a:xfrm>
          <a:prstGeom prst="rect">
            <a:avLst/>
          </a:prstGeom>
          <a:noFill/>
        </p:spPr>
        <p:txBody>
          <a:bodyPr vert="horz" rtlCol="0">
            <a:spAutoFit/>
          </a:bodyPr>
          <a:lstStyle/>
          <a:p>
            <a:r>
              <a:rPr lang="tr-TR" b="1" dirty="0"/>
              <a:t>Gameplay</a:t>
            </a:r>
            <a:r>
              <a:rPr lang="en-US" b="1" dirty="0"/>
              <a:t> – 3</a:t>
            </a:r>
            <a:endParaRPr lang="tr-TR" b="1" dirty="0"/>
          </a:p>
        </p:txBody>
      </p:sp>
      <p:sp>
        <p:nvSpPr>
          <p:cNvPr id="3" name="TextBox 2">
            <a:extLst>
              <a:ext uri="{FF2B5EF4-FFF2-40B4-BE49-F238E27FC236}">
                <a16:creationId xmlns:a16="http://schemas.microsoft.com/office/drawing/2014/main" id="{B2DBEECC-ABBE-F73D-3631-C4E567036145}"/>
              </a:ext>
            </a:extLst>
          </p:cNvPr>
          <p:cNvSpPr txBox="1"/>
          <p:nvPr/>
        </p:nvSpPr>
        <p:spPr>
          <a:xfrm>
            <a:off x="508000" y="750332"/>
            <a:ext cx="11176000" cy="369332"/>
          </a:xfrm>
          <a:prstGeom prst="rect">
            <a:avLst/>
          </a:prstGeom>
          <a:noFill/>
        </p:spPr>
        <p:txBody>
          <a:bodyPr vert="horz" rtlCol="0">
            <a:spAutoFit/>
          </a:bodyPr>
          <a:lstStyle/>
          <a:p>
            <a:r>
              <a:rPr lang="en-US" dirty="0"/>
              <a:t>Match end</a:t>
            </a:r>
            <a:endParaRPr lang="tr-TR" dirty="0"/>
          </a:p>
        </p:txBody>
      </p:sp>
      <p:pic>
        <p:nvPicPr>
          <p:cNvPr id="6" name="Picture 5">
            <a:extLst>
              <a:ext uri="{FF2B5EF4-FFF2-40B4-BE49-F238E27FC236}">
                <a16:creationId xmlns:a16="http://schemas.microsoft.com/office/drawing/2014/main" id="{E0B5F333-64D1-07D7-336F-B970E9A07278}"/>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917299" y="1119664"/>
            <a:ext cx="8357401" cy="5220000"/>
          </a:xfrm>
          <a:prstGeom prst="rect">
            <a:avLst/>
          </a:prstGeom>
        </p:spPr>
      </p:pic>
    </p:spTree>
    <p:extLst>
      <p:ext uri="{BB962C8B-B14F-4D97-AF65-F5344CB8AC3E}">
        <p14:creationId xmlns:p14="http://schemas.microsoft.com/office/powerpoint/2010/main" val="38659690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75AC86-C1CE-F4AD-95B0-D86F25EC4D2E}"/>
              </a:ext>
            </a:extLst>
          </p:cNvPr>
          <p:cNvSpPr txBox="1"/>
          <p:nvPr/>
        </p:nvSpPr>
        <p:spPr>
          <a:xfrm>
            <a:off x="508000" y="381000"/>
            <a:ext cx="11176000" cy="369332"/>
          </a:xfrm>
          <a:prstGeom prst="rect">
            <a:avLst/>
          </a:prstGeom>
          <a:noFill/>
        </p:spPr>
        <p:txBody>
          <a:bodyPr vert="horz" rtlCol="0">
            <a:spAutoFit/>
          </a:bodyPr>
          <a:lstStyle/>
          <a:p>
            <a:r>
              <a:rPr lang="tr-TR" b="1" dirty="0"/>
              <a:t>Leaderboar</a:t>
            </a:r>
            <a:r>
              <a:rPr lang="en-US" b="1" dirty="0"/>
              <a:t>d</a:t>
            </a:r>
            <a:endParaRPr lang="tr-TR" b="1" dirty="0"/>
          </a:p>
        </p:txBody>
      </p:sp>
      <p:sp>
        <p:nvSpPr>
          <p:cNvPr id="3" name="TextBox 2">
            <a:extLst>
              <a:ext uri="{FF2B5EF4-FFF2-40B4-BE49-F238E27FC236}">
                <a16:creationId xmlns:a16="http://schemas.microsoft.com/office/drawing/2014/main" id="{C02B4A8E-32ED-3B6E-5CB7-425870D8C9FA}"/>
              </a:ext>
            </a:extLst>
          </p:cNvPr>
          <p:cNvSpPr txBox="1"/>
          <p:nvPr/>
        </p:nvSpPr>
        <p:spPr>
          <a:xfrm>
            <a:off x="508000" y="750332"/>
            <a:ext cx="11176000" cy="369332"/>
          </a:xfrm>
          <a:prstGeom prst="rect">
            <a:avLst/>
          </a:prstGeom>
          <a:noFill/>
        </p:spPr>
        <p:txBody>
          <a:bodyPr vert="horz" rtlCol="0">
            <a:spAutoFit/>
          </a:bodyPr>
          <a:lstStyle/>
          <a:p>
            <a:r>
              <a:rPr lang="en-US" dirty="0"/>
              <a:t>Rankings</a:t>
            </a:r>
            <a:endParaRPr lang="tr-TR" dirty="0"/>
          </a:p>
        </p:txBody>
      </p:sp>
      <p:pic>
        <p:nvPicPr>
          <p:cNvPr id="7" name="Picture 6">
            <a:extLst>
              <a:ext uri="{FF2B5EF4-FFF2-40B4-BE49-F238E27FC236}">
                <a16:creationId xmlns:a16="http://schemas.microsoft.com/office/drawing/2014/main" id="{A1A099F4-0083-6C7C-D22D-F97BF85D254B}"/>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509600" y="1257000"/>
            <a:ext cx="11174400" cy="5220000"/>
          </a:xfrm>
          <a:prstGeom prst="rect">
            <a:avLst/>
          </a:prstGeom>
        </p:spPr>
      </p:pic>
    </p:spTree>
    <p:extLst>
      <p:ext uri="{BB962C8B-B14F-4D97-AF65-F5344CB8AC3E}">
        <p14:creationId xmlns:p14="http://schemas.microsoft.com/office/powerpoint/2010/main" val="35174845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618C9-6DB0-B7D7-C81B-471D760E164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05CADA8-65CA-5468-F93B-282D8EAD8D73}"/>
              </a:ext>
            </a:extLst>
          </p:cNvPr>
          <p:cNvSpPr txBox="1"/>
          <p:nvPr/>
        </p:nvSpPr>
        <p:spPr>
          <a:xfrm>
            <a:off x="508000" y="381000"/>
            <a:ext cx="11176000" cy="369332"/>
          </a:xfrm>
          <a:prstGeom prst="rect">
            <a:avLst/>
          </a:prstGeom>
          <a:noFill/>
        </p:spPr>
        <p:txBody>
          <a:bodyPr vert="horz" rtlCol="0">
            <a:spAutoFit/>
          </a:bodyPr>
          <a:lstStyle/>
          <a:p>
            <a:r>
              <a:rPr lang="en-US" b="1" dirty="0"/>
              <a:t>Match History</a:t>
            </a:r>
            <a:endParaRPr lang="tr-TR" b="1" dirty="0"/>
          </a:p>
        </p:txBody>
      </p:sp>
      <p:sp>
        <p:nvSpPr>
          <p:cNvPr id="3" name="TextBox 2">
            <a:extLst>
              <a:ext uri="{FF2B5EF4-FFF2-40B4-BE49-F238E27FC236}">
                <a16:creationId xmlns:a16="http://schemas.microsoft.com/office/drawing/2014/main" id="{32579CA2-34BE-D73B-3B06-96C707520346}"/>
              </a:ext>
            </a:extLst>
          </p:cNvPr>
          <p:cNvSpPr txBox="1"/>
          <p:nvPr/>
        </p:nvSpPr>
        <p:spPr>
          <a:xfrm>
            <a:off x="508000" y="750332"/>
            <a:ext cx="11176000" cy="369332"/>
          </a:xfrm>
          <a:prstGeom prst="rect">
            <a:avLst/>
          </a:prstGeom>
          <a:noFill/>
        </p:spPr>
        <p:txBody>
          <a:bodyPr vert="horz" rtlCol="0">
            <a:spAutoFit/>
          </a:bodyPr>
          <a:lstStyle/>
          <a:p>
            <a:r>
              <a:rPr lang="en-US" dirty="0"/>
              <a:t>Past matches of a player</a:t>
            </a:r>
            <a:endParaRPr lang="tr-TR" dirty="0"/>
          </a:p>
        </p:txBody>
      </p:sp>
      <p:pic>
        <p:nvPicPr>
          <p:cNvPr id="7" name="Picture 6">
            <a:extLst>
              <a:ext uri="{FF2B5EF4-FFF2-40B4-BE49-F238E27FC236}">
                <a16:creationId xmlns:a16="http://schemas.microsoft.com/office/drawing/2014/main" id="{F298FB76-B298-4447-973F-C7F8B5F43E7F}"/>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509600" y="1257000"/>
            <a:ext cx="11174400" cy="5220000"/>
          </a:xfrm>
          <a:prstGeom prst="rect">
            <a:avLst/>
          </a:prstGeom>
        </p:spPr>
      </p:pic>
    </p:spTree>
    <p:extLst>
      <p:ext uri="{BB962C8B-B14F-4D97-AF65-F5344CB8AC3E}">
        <p14:creationId xmlns:p14="http://schemas.microsoft.com/office/powerpoint/2010/main" val="5513489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C5CAE-81BF-C1A1-78C2-88C8187789F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A1E4F-C0AF-6CEF-0F66-F2EFD28F0CB9}"/>
              </a:ext>
            </a:extLst>
          </p:cNvPr>
          <p:cNvSpPr txBox="1"/>
          <p:nvPr/>
        </p:nvSpPr>
        <p:spPr>
          <a:xfrm>
            <a:off x="508000" y="381000"/>
            <a:ext cx="11176000" cy="369332"/>
          </a:xfrm>
          <a:prstGeom prst="rect">
            <a:avLst/>
          </a:prstGeom>
          <a:noFill/>
        </p:spPr>
        <p:txBody>
          <a:bodyPr vert="horz" rtlCol="0">
            <a:spAutoFit/>
          </a:bodyPr>
          <a:lstStyle/>
          <a:p>
            <a:r>
              <a:rPr lang="en-US" b="1" dirty="0"/>
              <a:t>Match Replay</a:t>
            </a:r>
            <a:endParaRPr lang="tr-TR" b="1" dirty="0"/>
          </a:p>
        </p:txBody>
      </p:sp>
      <p:sp>
        <p:nvSpPr>
          <p:cNvPr id="3" name="TextBox 2">
            <a:extLst>
              <a:ext uri="{FF2B5EF4-FFF2-40B4-BE49-F238E27FC236}">
                <a16:creationId xmlns:a16="http://schemas.microsoft.com/office/drawing/2014/main" id="{D17AFACB-1F2F-714E-9A8C-34841D001BA2}"/>
              </a:ext>
            </a:extLst>
          </p:cNvPr>
          <p:cNvSpPr txBox="1"/>
          <p:nvPr/>
        </p:nvSpPr>
        <p:spPr>
          <a:xfrm>
            <a:off x="508000" y="750332"/>
            <a:ext cx="11176000" cy="369332"/>
          </a:xfrm>
          <a:prstGeom prst="rect">
            <a:avLst/>
          </a:prstGeom>
          <a:noFill/>
        </p:spPr>
        <p:txBody>
          <a:bodyPr vert="horz" rtlCol="0">
            <a:spAutoFit/>
          </a:bodyPr>
          <a:lstStyle/>
          <a:p>
            <a:r>
              <a:rPr lang="en-US" dirty="0"/>
              <a:t>Players can replay their own matches. Admins can replay every match</a:t>
            </a:r>
            <a:endParaRPr lang="tr-TR" dirty="0"/>
          </a:p>
        </p:txBody>
      </p:sp>
      <p:pic>
        <p:nvPicPr>
          <p:cNvPr id="5" name="Picture 4">
            <a:extLst>
              <a:ext uri="{FF2B5EF4-FFF2-40B4-BE49-F238E27FC236}">
                <a16:creationId xmlns:a16="http://schemas.microsoft.com/office/drawing/2014/main" id="{3017F994-8211-F766-BBC9-078558E93906}"/>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509600" y="1257000"/>
            <a:ext cx="11174400" cy="5220000"/>
          </a:xfrm>
          <a:prstGeom prst="rect">
            <a:avLst/>
          </a:prstGeom>
        </p:spPr>
      </p:pic>
    </p:spTree>
    <p:extLst>
      <p:ext uri="{BB962C8B-B14F-4D97-AF65-F5344CB8AC3E}">
        <p14:creationId xmlns:p14="http://schemas.microsoft.com/office/powerpoint/2010/main" val="21645525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4B5D18-8A8E-DE93-DF99-AE2A35F10E29}"/>
              </a:ext>
            </a:extLst>
          </p:cNvPr>
          <p:cNvSpPr txBox="1"/>
          <p:nvPr/>
        </p:nvSpPr>
        <p:spPr>
          <a:xfrm>
            <a:off x="508000" y="381000"/>
            <a:ext cx="11176000" cy="369332"/>
          </a:xfrm>
          <a:prstGeom prst="rect">
            <a:avLst/>
          </a:prstGeom>
          <a:noFill/>
        </p:spPr>
        <p:txBody>
          <a:bodyPr vert="horz" rtlCol="0">
            <a:spAutoFit/>
          </a:bodyPr>
          <a:lstStyle/>
          <a:p>
            <a:r>
              <a:rPr lang="tr-TR" b="1" dirty="0"/>
              <a:t>Admi</a:t>
            </a:r>
            <a:r>
              <a:rPr lang="en-US" b="1" dirty="0"/>
              <a:t>n – 1: Panel</a:t>
            </a:r>
            <a:endParaRPr lang="tr-TR" b="1" dirty="0"/>
          </a:p>
        </p:txBody>
      </p:sp>
      <p:sp>
        <p:nvSpPr>
          <p:cNvPr id="3" name="TextBox 2">
            <a:extLst>
              <a:ext uri="{FF2B5EF4-FFF2-40B4-BE49-F238E27FC236}">
                <a16:creationId xmlns:a16="http://schemas.microsoft.com/office/drawing/2014/main" id="{7CCE6D51-BAF8-ED27-7BCC-2015992F9C39}"/>
              </a:ext>
            </a:extLst>
          </p:cNvPr>
          <p:cNvSpPr txBox="1"/>
          <p:nvPr/>
        </p:nvSpPr>
        <p:spPr>
          <a:xfrm>
            <a:off x="508000" y="750332"/>
            <a:ext cx="11176000" cy="369332"/>
          </a:xfrm>
          <a:prstGeom prst="rect">
            <a:avLst/>
          </a:prstGeom>
          <a:noFill/>
        </p:spPr>
        <p:txBody>
          <a:bodyPr vert="horz" rtlCol="0">
            <a:spAutoFit/>
          </a:bodyPr>
          <a:lstStyle/>
          <a:p>
            <a:r>
              <a:rPr lang="en-US" dirty="0"/>
              <a:t>Admin specific actions</a:t>
            </a:r>
            <a:endParaRPr lang="tr-TR" dirty="0"/>
          </a:p>
        </p:txBody>
      </p:sp>
      <p:pic>
        <p:nvPicPr>
          <p:cNvPr id="7" name="Picture 6">
            <a:extLst>
              <a:ext uri="{FF2B5EF4-FFF2-40B4-BE49-F238E27FC236}">
                <a16:creationId xmlns:a16="http://schemas.microsoft.com/office/drawing/2014/main" id="{A45D0F05-846E-E9CF-C75D-5AF046A4D512}"/>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509600" y="1257000"/>
            <a:ext cx="11174400" cy="5220000"/>
          </a:xfrm>
          <a:prstGeom prst="rect">
            <a:avLst/>
          </a:prstGeom>
        </p:spPr>
      </p:pic>
    </p:spTree>
    <p:extLst>
      <p:ext uri="{BB962C8B-B14F-4D97-AF65-F5344CB8AC3E}">
        <p14:creationId xmlns:p14="http://schemas.microsoft.com/office/powerpoint/2010/main" val="3251510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87E24-3180-2C6A-4E1B-ED2338B0120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5E450A8-D0C9-B702-071A-BD6D1721DBFC}"/>
              </a:ext>
            </a:extLst>
          </p:cNvPr>
          <p:cNvSpPr txBox="1"/>
          <p:nvPr/>
        </p:nvSpPr>
        <p:spPr>
          <a:xfrm>
            <a:off x="508000" y="381000"/>
            <a:ext cx="11176000" cy="369332"/>
          </a:xfrm>
          <a:prstGeom prst="rect">
            <a:avLst/>
          </a:prstGeom>
          <a:noFill/>
        </p:spPr>
        <p:txBody>
          <a:bodyPr vert="horz" rtlCol="0">
            <a:spAutoFit/>
          </a:bodyPr>
          <a:lstStyle/>
          <a:p>
            <a:r>
              <a:rPr lang="en-US" b="1" dirty="0"/>
              <a:t>Admin – 2: User Profiles</a:t>
            </a:r>
            <a:endParaRPr lang="tr-TR" b="1" dirty="0"/>
          </a:p>
        </p:txBody>
      </p:sp>
      <p:sp>
        <p:nvSpPr>
          <p:cNvPr id="3" name="TextBox 2">
            <a:extLst>
              <a:ext uri="{FF2B5EF4-FFF2-40B4-BE49-F238E27FC236}">
                <a16:creationId xmlns:a16="http://schemas.microsoft.com/office/drawing/2014/main" id="{481714F6-1BF8-72AB-2287-1CF686A51D30}"/>
              </a:ext>
            </a:extLst>
          </p:cNvPr>
          <p:cNvSpPr txBox="1"/>
          <p:nvPr/>
        </p:nvSpPr>
        <p:spPr>
          <a:xfrm>
            <a:off x="508000" y="750332"/>
            <a:ext cx="11176000" cy="369332"/>
          </a:xfrm>
          <a:prstGeom prst="rect">
            <a:avLst/>
          </a:prstGeom>
          <a:noFill/>
        </p:spPr>
        <p:txBody>
          <a:bodyPr vert="horz" rtlCol="0">
            <a:spAutoFit/>
          </a:bodyPr>
          <a:lstStyle/>
          <a:p>
            <a:r>
              <a:rPr lang="en-US" dirty="0"/>
              <a:t>Admins can see every player and their profiles registered to system</a:t>
            </a:r>
            <a:endParaRPr lang="tr-TR" dirty="0"/>
          </a:p>
        </p:txBody>
      </p:sp>
      <p:pic>
        <p:nvPicPr>
          <p:cNvPr id="7" name="Picture 6">
            <a:extLst>
              <a:ext uri="{FF2B5EF4-FFF2-40B4-BE49-F238E27FC236}">
                <a16:creationId xmlns:a16="http://schemas.microsoft.com/office/drawing/2014/main" id="{B2FA07E8-6366-9B2A-54DA-A09147C6A6CC}"/>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509600" y="1257000"/>
            <a:ext cx="11174400" cy="5220000"/>
          </a:xfrm>
          <a:prstGeom prst="rect">
            <a:avLst/>
          </a:prstGeom>
        </p:spPr>
      </p:pic>
    </p:spTree>
    <p:extLst>
      <p:ext uri="{BB962C8B-B14F-4D97-AF65-F5344CB8AC3E}">
        <p14:creationId xmlns:p14="http://schemas.microsoft.com/office/powerpoint/2010/main" val="18766033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67B95-C168-3FD5-1B03-DADED4BDA98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0AE653E-D451-94FA-978A-8AED2473DF4B}"/>
              </a:ext>
            </a:extLst>
          </p:cNvPr>
          <p:cNvSpPr txBox="1"/>
          <p:nvPr/>
        </p:nvSpPr>
        <p:spPr>
          <a:xfrm>
            <a:off x="508000" y="381000"/>
            <a:ext cx="11176000" cy="369332"/>
          </a:xfrm>
          <a:prstGeom prst="rect">
            <a:avLst/>
          </a:prstGeom>
          <a:noFill/>
        </p:spPr>
        <p:txBody>
          <a:bodyPr vert="horz" rtlCol="0">
            <a:spAutoFit/>
          </a:bodyPr>
          <a:lstStyle/>
          <a:p>
            <a:r>
              <a:rPr lang="en-US" b="1" dirty="0"/>
              <a:t>Settings</a:t>
            </a:r>
            <a:endParaRPr lang="tr-TR" b="1" dirty="0"/>
          </a:p>
        </p:txBody>
      </p:sp>
      <p:sp>
        <p:nvSpPr>
          <p:cNvPr id="3" name="TextBox 2">
            <a:extLst>
              <a:ext uri="{FF2B5EF4-FFF2-40B4-BE49-F238E27FC236}">
                <a16:creationId xmlns:a16="http://schemas.microsoft.com/office/drawing/2014/main" id="{D64238D4-90DF-7823-A425-796957CC4BC9}"/>
              </a:ext>
            </a:extLst>
          </p:cNvPr>
          <p:cNvSpPr txBox="1"/>
          <p:nvPr/>
        </p:nvSpPr>
        <p:spPr>
          <a:xfrm>
            <a:off x="508000" y="750332"/>
            <a:ext cx="11176000" cy="369332"/>
          </a:xfrm>
          <a:prstGeom prst="rect">
            <a:avLst/>
          </a:prstGeom>
          <a:noFill/>
        </p:spPr>
        <p:txBody>
          <a:bodyPr vert="horz" rtlCol="0">
            <a:spAutoFit/>
          </a:bodyPr>
          <a:lstStyle/>
          <a:p>
            <a:r>
              <a:rPr lang="en-US" dirty="0"/>
              <a:t>Allows users to change user name, email, and password as well as let them de-activate their account</a:t>
            </a:r>
            <a:endParaRPr lang="tr-TR" dirty="0"/>
          </a:p>
        </p:txBody>
      </p:sp>
      <p:pic>
        <p:nvPicPr>
          <p:cNvPr id="7" name="Picture 6">
            <a:extLst>
              <a:ext uri="{FF2B5EF4-FFF2-40B4-BE49-F238E27FC236}">
                <a16:creationId xmlns:a16="http://schemas.microsoft.com/office/drawing/2014/main" id="{6608BCE5-9491-832D-FBFC-640CC4771E5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509600" y="1257000"/>
            <a:ext cx="11174400" cy="5220000"/>
          </a:xfrm>
          <a:prstGeom prst="rect">
            <a:avLst/>
          </a:prstGeom>
        </p:spPr>
      </p:pic>
    </p:spTree>
    <p:extLst>
      <p:ext uri="{BB962C8B-B14F-4D97-AF65-F5344CB8AC3E}">
        <p14:creationId xmlns:p14="http://schemas.microsoft.com/office/powerpoint/2010/main" val="40063870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8FBAFE-B078-B6F3-3C3C-69835DAA045F}"/>
              </a:ext>
            </a:extLst>
          </p:cNvPr>
          <p:cNvSpPr txBox="1"/>
          <p:nvPr/>
        </p:nvSpPr>
        <p:spPr>
          <a:xfrm>
            <a:off x="1016000" y="2286000"/>
            <a:ext cx="10160000" cy="769441"/>
          </a:xfrm>
          <a:prstGeom prst="rect">
            <a:avLst/>
          </a:prstGeom>
          <a:noFill/>
        </p:spPr>
        <p:txBody>
          <a:bodyPr vert="horz" wrap="square" rtlCol="0">
            <a:spAutoFit/>
          </a:bodyPr>
          <a:lstStyle/>
          <a:p>
            <a:r>
              <a:rPr lang="tr-TR" sz="4400" b="1" dirty="0"/>
              <a:t>Thank </a:t>
            </a:r>
            <a:r>
              <a:rPr lang="tr-TR" sz="4400" b="1" dirty="0">
                <a:solidFill>
                  <a:srgbClr val="00B0F0"/>
                </a:solidFill>
              </a:rPr>
              <a:t>you</a:t>
            </a:r>
          </a:p>
        </p:txBody>
      </p:sp>
      <p:sp>
        <p:nvSpPr>
          <p:cNvPr id="3" name="TextBox 2">
            <a:extLst>
              <a:ext uri="{FF2B5EF4-FFF2-40B4-BE49-F238E27FC236}">
                <a16:creationId xmlns:a16="http://schemas.microsoft.com/office/drawing/2014/main" id="{A710D3A0-3763-33B6-BCD1-7B1D9B1D128C}"/>
              </a:ext>
            </a:extLst>
          </p:cNvPr>
          <p:cNvSpPr txBox="1"/>
          <p:nvPr/>
        </p:nvSpPr>
        <p:spPr>
          <a:xfrm>
            <a:off x="1016000" y="3810000"/>
            <a:ext cx="10160000" cy="400110"/>
          </a:xfrm>
          <a:prstGeom prst="rect">
            <a:avLst/>
          </a:prstGeom>
          <a:noFill/>
        </p:spPr>
        <p:txBody>
          <a:bodyPr vert="horz" wrap="square" rtlCol="0">
            <a:spAutoFit/>
          </a:bodyPr>
          <a:lstStyle/>
          <a:p>
            <a:r>
              <a:rPr lang="tr-TR" sz="2000" dirty="0">
                <a:solidFill>
                  <a:schemeClr val="tx2">
                    <a:lumMod val="75000"/>
                  </a:schemeClr>
                </a:solidFill>
              </a:rPr>
              <a:t>Questions? | BattleGrid on </a:t>
            </a:r>
            <a:r>
              <a:rPr lang="en-US" sz="2000" dirty="0">
                <a:solidFill>
                  <a:schemeClr val="tx2">
                    <a:lumMod val="75000"/>
                  </a:schemeClr>
                </a:solidFill>
              </a:rPr>
              <a:t>Render</a:t>
            </a:r>
            <a:endParaRPr lang="tr-TR" sz="2000" dirty="0">
              <a:solidFill>
                <a:schemeClr val="tx2">
                  <a:lumMod val="75000"/>
                </a:schemeClr>
              </a:solidFill>
            </a:endParaRPr>
          </a:p>
        </p:txBody>
      </p:sp>
      <p:sp>
        <p:nvSpPr>
          <p:cNvPr id="4" name="TextBox 3">
            <a:extLst>
              <a:ext uri="{FF2B5EF4-FFF2-40B4-BE49-F238E27FC236}">
                <a16:creationId xmlns:a16="http://schemas.microsoft.com/office/drawing/2014/main" id="{820FCD65-2B27-57B0-049E-675C1ABE9EF7}"/>
              </a:ext>
            </a:extLst>
          </p:cNvPr>
          <p:cNvSpPr txBox="1"/>
          <p:nvPr/>
        </p:nvSpPr>
        <p:spPr>
          <a:xfrm>
            <a:off x="1016001" y="4305360"/>
            <a:ext cx="10160000" cy="400110"/>
          </a:xfrm>
          <a:prstGeom prst="rect">
            <a:avLst/>
          </a:prstGeom>
          <a:noFill/>
        </p:spPr>
        <p:txBody>
          <a:bodyPr vert="horz" wrap="square" rtlCol="0">
            <a:spAutoFit/>
          </a:bodyPr>
          <a:lstStyle/>
          <a:p>
            <a:r>
              <a:rPr lang="en-US" sz="2000" dirty="0">
                <a:solidFill>
                  <a:schemeClr val="tx2">
                    <a:lumMod val="75000"/>
                  </a:schemeClr>
                </a:solidFill>
                <a:hlinkClick r:id="rId2"/>
              </a:rPr>
              <a:t>https://battlegridweb.onrender.com</a:t>
            </a:r>
            <a:endParaRPr lang="tr-TR" sz="2000" dirty="0">
              <a:solidFill>
                <a:schemeClr val="tx2">
                  <a:lumMod val="75000"/>
                </a:schemeClr>
              </a:solidFill>
            </a:endParaRPr>
          </a:p>
        </p:txBody>
      </p:sp>
    </p:spTree>
    <p:extLst>
      <p:ext uri="{BB962C8B-B14F-4D97-AF65-F5344CB8AC3E}">
        <p14:creationId xmlns:p14="http://schemas.microsoft.com/office/powerpoint/2010/main" val="17910382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TM04033929[[fn=Slate]]</Template>
  <TotalTime>392</TotalTime>
  <Words>1347</Words>
  <Application>Microsoft Office PowerPoint</Application>
  <PresentationFormat>Widescreen</PresentationFormat>
  <Paragraphs>195</Paragraphs>
  <Slides>40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Calibri</vt:lpstr>
      <vt:lpstr>Calisto MT</vt:lpstr>
      <vt:lpstr>Wingdings 2</vt:lpstr>
      <vt:lpstr>Slate</vt:lpstr>
      <vt:lpstr>PowerPoint Presentation</vt:lpstr>
      <vt:lpstr>PowerPoint Presentation</vt:lpstr>
      <vt:lpstr>What is the project about?</vt:lpstr>
      <vt:lpstr>Problem Statement</vt:lpstr>
      <vt:lpstr>Motivation and why it matters</vt:lpstr>
      <vt:lpstr>PowerPoint Presentation</vt:lpstr>
      <vt:lpstr>Project aims</vt:lpstr>
      <vt:lpstr>PowerPoint Presentation</vt:lpstr>
      <vt:lpstr>Similar systems and our contribution</vt:lpstr>
      <vt:lpstr>PowerPoint Presentation</vt:lpstr>
      <vt:lpstr>Constraints and assumptions</vt:lpstr>
      <vt:lpstr>PowerPoint Presentation</vt:lpstr>
      <vt:lpstr>PowerPoint Presentation</vt:lpstr>
      <vt:lpstr>PowerPoint Presentation</vt:lpstr>
      <vt:lpstr>Architecture and Technology Stack</vt:lpstr>
      <vt:lpstr>PowerPoint Presentation</vt:lpstr>
      <vt:lpstr>PowerPoint Presentation</vt:lpstr>
      <vt:lpstr>PowerPoint Presentation</vt:lpstr>
      <vt:lpstr>PowerPoint Presentation</vt:lpstr>
      <vt:lpstr>PowerPoint Presentation</vt:lpstr>
      <vt:lpstr>PowerPoint Presentation</vt:lpstr>
      <vt:lpstr>Completed deliverables</vt:lpstr>
      <vt:lpstr>Core Functionality Implemented</vt:lpstr>
      <vt:lpstr>Additional Features Implemented</vt:lpstr>
      <vt:lpstr>Infrastructure &amp; Deployment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Serkan EROL</dc:creator>
  <cp:lastModifiedBy>Serkan EROL</cp:lastModifiedBy>
  <cp:revision>55</cp:revision>
  <dcterms:created xsi:type="dcterms:W3CDTF">2026-05-29T12:04:21Z</dcterms:created>
  <dcterms:modified xsi:type="dcterms:W3CDTF">2026-05-29T20:49:52Z</dcterms:modified>
</cp:coreProperties>
</file>